
<file path=[Content_Types].xml><?xml version="1.0" encoding="utf-8"?>
<Types xmlns="http://schemas.openxmlformats.org/package/2006/content-types">
  <Default Extension="jp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35"/>
  </p:notesMasterIdLst>
  <p:sldIdLst>
    <p:sldId id="530" r:id="rId5"/>
    <p:sldId id="531" r:id="rId6"/>
    <p:sldId id="555" r:id="rId7"/>
    <p:sldId id="556" r:id="rId8"/>
    <p:sldId id="547" r:id="rId9"/>
    <p:sldId id="557" r:id="rId10"/>
    <p:sldId id="558" r:id="rId11"/>
    <p:sldId id="559" r:id="rId12"/>
    <p:sldId id="548" r:id="rId13"/>
    <p:sldId id="560" r:id="rId14"/>
    <p:sldId id="561" r:id="rId15"/>
    <p:sldId id="563" r:id="rId16"/>
    <p:sldId id="562" r:id="rId17"/>
    <p:sldId id="564" r:id="rId18"/>
    <p:sldId id="550" r:id="rId19"/>
    <p:sldId id="565" r:id="rId20"/>
    <p:sldId id="566" r:id="rId21"/>
    <p:sldId id="567" r:id="rId22"/>
    <p:sldId id="553" r:id="rId23"/>
    <p:sldId id="551" r:id="rId24"/>
    <p:sldId id="552" r:id="rId25"/>
    <p:sldId id="568" r:id="rId26"/>
    <p:sldId id="569" r:id="rId27"/>
    <p:sldId id="570" r:id="rId28"/>
    <p:sldId id="571" r:id="rId29"/>
    <p:sldId id="573" r:id="rId30"/>
    <p:sldId id="574" r:id="rId31"/>
    <p:sldId id="533" r:id="rId32"/>
    <p:sldId id="554" r:id="rId33"/>
    <p:sldId id="544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A23F1"/>
    <a:srgbClr val="8822EE"/>
    <a:srgbClr val="F01688"/>
    <a:srgbClr val="2F21F3"/>
    <a:srgbClr val="FEB52B"/>
    <a:srgbClr val="F01689"/>
    <a:srgbClr val="6F22E3"/>
    <a:srgbClr val="E218A3"/>
    <a:srgbClr val="BA20DB"/>
    <a:srgbClr val="2F22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heme" Target="theme/theme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microsoft.com/office/2018/10/relationships/authors" Target="author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jay Kumar Sahu" userId="dd24f88422e0a5ca" providerId="LiveId" clId="{D4359742-125F-44D8-ADFF-EA47969DD1D9}"/>
    <pc:docChg chg="undo redo custSel addSld delSld modSld sldOrd">
      <pc:chgData name="Ajay Kumar Sahu" userId="dd24f88422e0a5ca" providerId="LiveId" clId="{D4359742-125F-44D8-ADFF-EA47969DD1D9}" dt="2026-10-19T19:06:25.422" v="9032" actId="20577"/>
      <pc:docMkLst>
        <pc:docMk/>
      </pc:docMkLst>
      <pc:sldChg chg="modSp mod">
        <pc:chgData name="Ajay Kumar Sahu" userId="dd24f88422e0a5ca" providerId="LiveId" clId="{D4359742-125F-44D8-ADFF-EA47969DD1D9}" dt="2026-10-19T19:06:25.422" v="9032" actId="20577"/>
        <pc:sldMkLst>
          <pc:docMk/>
          <pc:sldMk cId="1723491119" sldId="530"/>
        </pc:sldMkLst>
        <pc:spChg chg="mod">
          <ac:chgData name="Ajay Kumar Sahu" userId="dd24f88422e0a5ca" providerId="LiveId" clId="{D4359742-125F-44D8-ADFF-EA47969DD1D9}" dt="2026-10-19T19:06:25.422" v="9032" actId="20577"/>
          <ac:spMkLst>
            <pc:docMk/>
            <pc:sldMk cId="1723491119" sldId="530"/>
            <ac:spMk id="2" creationId="{DC870DB4-0446-EF22-E8E0-3A5B83923AC0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6-03-23T03:06:46.209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9102 16475 0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00BCFC-AFFD-334C-A183-6116BAFDF92B}" type="datetimeFigureOut">
              <a:rPr lang="en-US" smtClean="0"/>
              <a:t>10/20/2026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C058E0-0852-DB43-83D6-BD76659FF1D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93068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>
            <a:extLst>
              <a:ext uri="{FF2B5EF4-FFF2-40B4-BE49-F238E27FC236}">
                <a16:creationId xmlns:a16="http://schemas.microsoft.com/office/drawing/2014/main" id="{F51FEA09-E4BD-0741-D624-EED4A231C599}"/>
              </a:ext>
            </a:extLst>
          </p:cNvPr>
          <p:cNvSpPr/>
          <p:nvPr userDrawn="1"/>
        </p:nvSpPr>
        <p:spPr>
          <a:xfrm rot="10800000">
            <a:off x="853427" y="5650992"/>
            <a:ext cx="6821472" cy="1207007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0">
                <a:schemeClr val="tx2">
                  <a:alpha val="0"/>
                </a:schemeClr>
              </a:gs>
              <a:gs pos="99000">
                <a:schemeClr val="accent3">
                  <a:alpha val="71647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B707B5BA-AB15-D1EF-EBC5-F38FCE20FC52}"/>
              </a:ext>
            </a:extLst>
          </p:cNvPr>
          <p:cNvSpPr/>
          <p:nvPr userDrawn="1"/>
        </p:nvSpPr>
        <p:spPr>
          <a:xfrm rot="710202" flipV="1">
            <a:off x="-145573" y="4175628"/>
            <a:ext cx="6040006" cy="3240870"/>
          </a:xfrm>
          <a:custGeom>
            <a:avLst/>
            <a:gdLst>
              <a:gd name="connsiteX0" fmla="*/ 480125 w 6747252"/>
              <a:gd name="connsiteY0" fmla="*/ 0 h 3620355"/>
              <a:gd name="connsiteX1" fmla="*/ 6747252 w 6747252"/>
              <a:gd name="connsiteY1" fmla="*/ 1313462 h 3620355"/>
              <a:gd name="connsiteX2" fmla="*/ 6355443 w 6747252"/>
              <a:gd name="connsiteY2" fmla="*/ 1443581 h 3620355"/>
              <a:gd name="connsiteX3" fmla="*/ 4058536 w 6747252"/>
              <a:gd name="connsiteY3" fmla="*/ 2678500 h 3620355"/>
              <a:gd name="connsiteX4" fmla="*/ 33178 w 6747252"/>
              <a:gd name="connsiteY4" fmla="*/ 2369641 h 3620355"/>
              <a:gd name="connsiteX5" fmla="*/ 0 w 6747252"/>
              <a:gd name="connsiteY5" fmla="*/ 2290898 h 3620355"/>
              <a:gd name="connsiteX6" fmla="*/ 480125 w 6747252"/>
              <a:gd name="connsiteY6" fmla="*/ 0 h 3620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47252" h="3620355">
                <a:moveTo>
                  <a:pt x="480125" y="0"/>
                </a:moveTo>
                <a:lnTo>
                  <a:pt x="6747252" y="1313462"/>
                </a:lnTo>
                <a:lnTo>
                  <a:pt x="6355443" y="1443581"/>
                </a:lnTo>
                <a:cubicBezTo>
                  <a:pt x="5476828" y="1758684"/>
                  <a:pt x="4659690" y="2192443"/>
                  <a:pt x="4058536" y="2678500"/>
                </a:cubicBezTo>
                <a:cubicBezTo>
                  <a:pt x="2102261" y="4268418"/>
                  <a:pt x="625747" y="3626023"/>
                  <a:pt x="33178" y="2369641"/>
                </a:cubicBezTo>
                <a:lnTo>
                  <a:pt x="0" y="2290898"/>
                </a:lnTo>
                <a:lnTo>
                  <a:pt x="480125" y="0"/>
                </a:lnTo>
                <a:close/>
              </a:path>
            </a:pathLst>
          </a:custGeom>
          <a:gradFill flip="none" rotWithShape="1">
            <a:gsLst>
              <a:gs pos="97000">
                <a:schemeClr val="accent3">
                  <a:lumMod val="50000"/>
                  <a:alpha val="21210"/>
                </a:schemeClr>
              </a:gs>
              <a:gs pos="72000">
                <a:schemeClr val="accent4">
                  <a:lumMod val="50000"/>
                </a:schemeClr>
              </a:gs>
              <a:gs pos="3000">
                <a:schemeClr val="accent6">
                  <a:alpha val="53787"/>
                </a:schemeClr>
              </a:gs>
            </a:gsLst>
            <a:lin ang="81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1AF73CC-B23B-6DCD-7E3E-8213485DF9B7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095999" y="3104925"/>
            <a:ext cx="0" cy="165518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reeform 1">
            <a:extLst>
              <a:ext uri="{FF2B5EF4-FFF2-40B4-BE49-F238E27FC236}">
                <a16:creationId xmlns:a16="http://schemas.microsoft.com/office/drawing/2014/main" id="{0319ECD0-7050-C18F-AC35-7F8DFA288A58}"/>
              </a:ext>
            </a:extLst>
          </p:cNvPr>
          <p:cNvSpPr/>
          <p:nvPr userDrawn="1"/>
        </p:nvSpPr>
        <p:spPr>
          <a:xfrm>
            <a:off x="-24334" y="1"/>
            <a:ext cx="12218982" cy="6860673"/>
          </a:xfrm>
          <a:custGeom>
            <a:avLst/>
            <a:gdLst>
              <a:gd name="connsiteX0" fmla="*/ 4456 w 12218982"/>
              <a:gd name="connsiteY0" fmla="*/ 0 h 6860673"/>
              <a:gd name="connsiteX1" fmla="*/ 3150735 w 12218982"/>
              <a:gd name="connsiteY1" fmla="*/ 0 h 6860673"/>
              <a:gd name="connsiteX2" fmla="*/ 3150734 w 12218982"/>
              <a:gd name="connsiteY2" fmla="*/ 1 h 6860673"/>
              <a:gd name="connsiteX3" fmla="*/ 3275209 w 12218982"/>
              <a:gd name="connsiteY3" fmla="*/ 1 h 6860673"/>
              <a:gd name="connsiteX4" fmla="*/ 3275209 w 12218982"/>
              <a:gd name="connsiteY4" fmla="*/ 0 h 6860673"/>
              <a:gd name="connsiteX5" fmla="*/ 12218982 w 12218982"/>
              <a:gd name="connsiteY5" fmla="*/ 0 h 6860673"/>
              <a:gd name="connsiteX6" fmla="*/ 12218982 w 12218982"/>
              <a:gd name="connsiteY6" fmla="*/ 1983013 h 6860673"/>
              <a:gd name="connsiteX7" fmla="*/ 12062259 w 12218982"/>
              <a:gd name="connsiteY7" fmla="*/ 2024385 h 6860673"/>
              <a:gd name="connsiteX8" fmla="*/ 10972986 w 12218982"/>
              <a:gd name="connsiteY8" fmla="*/ 2139627 h 6860673"/>
              <a:gd name="connsiteX9" fmla="*/ 5417726 w 12218982"/>
              <a:gd name="connsiteY9" fmla="*/ 115939 h 6860673"/>
              <a:gd name="connsiteX10" fmla="*/ 5011629 w 12218982"/>
              <a:gd name="connsiteY10" fmla="*/ 121918 h 6860673"/>
              <a:gd name="connsiteX11" fmla="*/ 4783396 w 12218982"/>
              <a:gd name="connsiteY11" fmla="*/ 139697 h 6860673"/>
              <a:gd name="connsiteX12" fmla="*/ 4570293 w 12218982"/>
              <a:gd name="connsiteY12" fmla="*/ 145085 h 6860673"/>
              <a:gd name="connsiteX13" fmla="*/ 692864 w 12218982"/>
              <a:gd name="connsiteY13" fmla="*/ 2723368 h 6860673"/>
              <a:gd name="connsiteX14" fmla="*/ 653810 w 12218982"/>
              <a:gd name="connsiteY14" fmla="*/ 2809752 h 6860673"/>
              <a:gd name="connsiteX15" fmla="*/ 633474 w 12218982"/>
              <a:gd name="connsiteY15" fmla="*/ 2851993 h 6860673"/>
              <a:gd name="connsiteX16" fmla="*/ 551923 w 12218982"/>
              <a:gd name="connsiteY16" fmla="*/ 3041708 h 6860673"/>
              <a:gd name="connsiteX17" fmla="*/ 532245 w 12218982"/>
              <a:gd name="connsiteY17" fmla="*/ 3101107 h 6860673"/>
              <a:gd name="connsiteX18" fmla="*/ 519820 w 12218982"/>
              <a:gd name="connsiteY18" fmla="*/ 3132620 h 6860673"/>
              <a:gd name="connsiteX19" fmla="*/ 242995 w 12218982"/>
              <a:gd name="connsiteY19" fmla="*/ 4701210 h 6860673"/>
              <a:gd name="connsiteX20" fmla="*/ 692864 w 12218982"/>
              <a:gd name="connsiteY20" fmla="*/ 6679052 h 6860673"/>
              <a:gd name="connsiteX21" fmla="*/ 784515 w 12218982"/>
              <a:gd name="connsiteY21" fmla="*/ 6858000 h 6860673"/>
              <a:gd name="connsiteX22" fmla="*/ 341340 w 12218982"/>
              <a:gd name="connsiteY22" fmla="*/ 6858000 h 6860673"/>
              <a:gd name="connsiteX23" fmla="*/ 341340 w 12218982"/>
              <a:gd name="connsiteY23" fmla="*/ 6860673 h 6860673"/>
              <a:gd name="connsiteX24" fmla="*/ 4456 w 12218982"/>
              <a:gd name="connsiteY24" fmla="*/ 6860673 h 6860673"/>
              <a:gd name="connsiteX25" fmla="*/ 4456 w 12218982"/>
              <a:gd name="connsiteY25" fmla="*/ 2794000 h 6860673"/>
              <a:gd name="connsiteX26" fmla="*/ 0 w 12218982"/>
              <a:gd name="connsiteY26" fmla="*/ 2794000 h 6860673"/>
              <a:gd name="connsiteX27" fmla="*/ 0 w 12218982"/>
              <a:gd name="connsiteY27" fmla="*/ 2022550 h 6860673"/>
              <a:gd name="connsiteX28" fmla="*/ 4456 w 12218982"/>
              <a:gd name="connsiteY28" fmla="*/ 2022550 h 6860673"/>
              <a:gd name="connsiteX29" fmla="*/ 4456 w 12218982"/>
              <a:gd name="connsiteY29" fmla="*/ 1646989 h 6860673"/>
              <a:gd name="connsiteX30" fmla="*/ 4456 w 12218982"/>
              <a:gd name="connsiteY30" fmla="*/ 0 h 6860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218982" h="6860673">
                <a:moveTo>
                  <a:pt x="4456" y="0"/>
                </a:moveTo>
                <a:lnTo>
                  <a:pt x="3150735" y="0"/>
                </a:lnTo>
                <a:lnTo>
                  <a:pt x="3150734" y="1"/>
                </a:lnTo>
                <a:lnTo>
                  <a:pt x="3275209" y="1"/>
                </a:lnTo>
                <a:lnTo>
                  <a:pt x="3275209" y="0"/>
                </a:lnTo>
                <a:lnTo>
                  <a:pt x="12218982" y="0"/>
                </a:lnTo>
                <a:lnTo>
                  <a:pt x="12218982" y="1983013"/>
                </a:lnTo>
                <a:lnTo>
                  <a:pt x="12062259" y="2024385"/>
                </a:lnTo>
                <a:cubicBezTo>
                  <a:pt x="11728036" y="2099441"/>
                  <a:pt x="11364094" y="2141640"/>
                  <a:pt x="10972986" y="2139627"/>
                </a:cubicBezTo>
                <a:cubicBezTo>
                  <a:pt x="8748018" y="2128176"/>
                  <a:pt x="7788484" y="155587"/>
                  <a:pt x="5417726" y="115939"/>
                </a:cubicBezTo>
                <a:cubicBezTo>
                  <a:pt x="5278815" y="113616"/>
                  <a:pt x="5143479" y="115764"/>
                  <a:pt x="5011629" y="121918"/>
                </a:cubicBezTo>
                <a:lnTo>
                  <a:pt x="4783396" y="139697"/>
                </a:lnTo>
                <a:lnTo>
                  <a:pt x="4570293" y="145085"/>
                </a:lnTo>
                <a:cubicBezTo>
                  <a:pt x="2859647" y="231798"/>
                  <a:pt x="1397605" y="1260791"/>
                  <a:pt x="692864" y="2723368"/>
                </a:cubicBezTo>
                <a:lnTo>
                  <a:pt x="653810" y="2809752"/>
                </a:lnTo>
                <a:lnTo>
                  <a:pt x="633474" y="2851993"/>
                </a:lnTo>
                <a:cubicBezTo>
                  <a:pt x="600933" y="2920155"/>
                  <a:pt x="575052" y="2977311"/>
                  <a:pt x="551923" y="3041708"/>
                </a:cubicBezTo>
                <a:lnTo>
                  <a:pt x="532245" y="3101107"/>
                </a:lnTo>
                <a:lnTo>
                  <a:pt x="519820" y="3132620"/>
                </a:lnTo>
                <a:cubicBezTo>
                  <a:pt x="340732" y="3621732"/>
                  <a:pt x="242995" y="4150057"/>
                  <a:pt x="242995" y="4701210"/>
                </a:cubicBezTo>
                <a:cubicBezTo>
                  <a:pt x="242995" y="5409836"/>
                  <a:pt x="404560" y="6080725"/>
                  <a:pt x="692864" y="6679052"/>
                </a:cubicBezTo>
                <a:lnTo>
                  <a:pt x="784515" y="6858000"/>
                </a:lnTo>
                <a:lnTo>
                  <a:pt x="341340" y="6858000"/>
                </a:lnTo>
                <a:lnTo>
                  <a:pt x="341340" y="6860673"/>
                </a:lnTo>
                <a:lnTo>
                  <a:pt x="4456" y="6860673"/>
                </a:lnTo>
                <a:lnTo>
                  <a:pt x="4456" y="2794000"/>
                </a:lnTo>
                <a:lnTo>
                  <a:pt x="0" y="2794000"/>
                </a:lnTo>
                <a:lnTo>
                  <a:pt x="0" y="2022550"/>
                </a:lnTo>
                <a:lnTo>
                  <a:pt x="4456" y="2022550"/>
                </a:lnTo>
                <a:lnTo>
                  <a:pt x="4456" y="1646989"/>
                </a:lnTo>
                <a:lnTo>
                  <a:pt x="4456" y="0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31889"/>
                </a:schemeClr>
              </a:gs>
              <a:gs pos="77000">
                <a:schemeClr val="accent3">
                  <a:lumMod val="25000"/>
                  <a:alpha val="0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332954FC-1C1B-B277-413F-3CBA66FD1EAD}"/>
              </a:ext>
            </a:extLst>
          </p:cNvPr>
          <p:cNvSpPr/>
          <p:nvPr userDrawn="1"/>
        </p:nvSpPr>
        <p:spPr>
          <a:xfrm flipH="1" flipV="1">
            <a:off x="-26982" y="9939"/>
            <a:ext cx="12218982" cy="6860673"/>
          </a:xfrm>
          <a:custGeom>
            <a:avLst/>
            <a:gdLst>
              <a:gd name="connsiteX0" fmla="*/ 4456 w 12218982"/>
              <a:gd name="connsiteY0" fmla="*/ 0 h 6860673"/>
              <a:gd name="connsiteX1" fmla="*/ 3150735 w 12218982"/>
              <a:gd name="connsiteY1" fmla="*/ 0 h 6860673"/>
              <a:gd name="connsiteX2" fmla="*/ 3150734 w 12218982"/>
              <a:gd name="connsiteY2" fmla="*/ 1 h 6860673"/>
              <a:gd name="connsiteX3" fmla="*/ 3275209 w 12218982"/>
              <a:gd name="connsiteY3" fmla="*/ 1 h 6860673"/>
              <a:gd name="connsiteX4" fmla="*/ 3275209 w 12218982"/>
              <a:gd name="connsiteY4" fmla="*/ 0 h 6860673"/>
              <a:gd name="connsiteX5" fmla="*/ 12218982 w 12218982"/>
              <a:gd name="connsiteY5" fmla="*/ 0 h 6860673"/>
              <a:gd name="connsiteX6" fmla="*/ 12218982 w 12218982"/>
              <a:gd name="connsiteY6" fmla="*/ 1983013 h 6860673"/>
              <a:gd name="connsiteX7" fmla="*/ 12062259 w 12218982"/>
              <a:gd name="connsiteY7" fmla="*/ 2024385 h 6860673"/>
              <a:gd name="connsiteX8" fmla="*/ 10972986 w 12218982"/>
              <a:gd name="connsiteY8" fmla="*/ 2139627 h 6860673"/>
              <a:gd name="connsiteX9" fmla="*/ 5417726 w 12218982"/>
              <a:gd name="connsiteY9" fmla="*/ 115939 h 6860673"/>
              <a:gd name="connsiteX10" fmla="*/ 5011629 w 12218982"/>
              <a:gd name="connsiteY10" fmla="*/ 121918 h 6860673"/>
              <a:gd name="connsiteX11" fmla="*/ 4783396 w 12218982"/>
              <a:gd name="connsiteY11" fmla="*/ 139697 h 6860673"/>
              <a:gd name="connsiteX12" fmla="*/ 4570293 w 12218982"/>
              <a:gd name="connsiteY12" fmla="*/ 145085 h 6860673"/>
              <a:gd name="connsiteX13" fmla="*/ 692864 w 12218982"/>
              <a:gd name="connsiteY13" fmla="*/ 2723368 h 6860673"/>
              <a:gd name="connsiteX14" fmla="*/ 653810 w 12218982"/>
              <a:gd name="connsiteY14" fmla="*/ 2809752 h 6860673"/>
              <a:gd name="connsiteX15" fmla="*/ 633474 w 12218982"/>
              <a:gd name="connsiteY15" fmla="*/ 2851993 h 6860673"/>
              <a:gd name="connsiteX16" fmla="*/ 551923 w 12218982"/>
              <a:gd name="connsiteY16" fmla="*/ 3041708 h 6860673"/>
              <a:gd name="connsiteX17" fmla="*/ 532245 w 12218982"/>
              <a:gd name="connsiteY17" fmla="*/ 3101107 h 6860673"/>
              <a:gd name="connsiteX18" fmla="*/ 519820 w 12218982"/>
              <a:gd name="connsiteY18" fmla="*/ 3132620 h 6860673"/>
              <a:gd name="connsiteX19" fmla="*/ 242995 w 12218982"/>
              <a:gd name="connsiteY19" fmla="*/ 4701210 h 6860673"/>
              <a:gd name="connsiteX20" fmla="*/ 692864 w 12218982"/>
              <a:gd name="connsiteY20" fmla="*/ 6679052 h 6860673"/>
              <a:gd name="connsiteX21" fmla="*/ 784515 w 12218982"/>
              <a:gd name="connsiteY21" fmla="*/ 6858000 h 6860673"/>
              <a:gd name="connsiteX22" fmla="*/ 341340 w 12218982"/>
              <a:gd name="connsiteY22" fmla="*/ 6858000 h 6860673"/>
              <a:gd name="connsiteX23" fmla="*/ 341340 w 12218982"/>
              <a:gd name="connsiteY23" fmla="*/ 6860673 h 6860673"/>
              <a:gd name="connsiteX24" fmla="*/ 4456 w 12218982"/>
              <a:gd name="connsiteY24" fmla="*/ 6860673 h 6860673"/>
              <a:gd name="connsiteX25" fmla="*/ 4456 w 12218982"/>
              <a:gd name="connsiteY25" fmla="*/ 2794000 h 6860673"/>
              <a:gd name="connsiteX26" fmla="*/ 0 w 12218982"/>
              <a:gd name="connsiteY26" fmla="*/ 2794000 h 6860673"/>
              <a:gd name="connsiteX27" fmla="*/ 0 w 12218982"/>
              <a:gd name="connsiteY27" fmla="*/ 2022550 h 6860673"/>
              <a:gd name="connsiteX28" fmla="*/ 4456 w 12218982"/>
              <a:gd name="connsiteY28" fmla="*/ 2022550 h 6860673"/>
              <a:gd name="connsiteX29" fmla="*/ 4456 w 12218982"/>
              <a:gd name="connsiteY29" fmla="*/ 1646989 h 6860673"/>
              <a:gd name="connsiteX30" fmla="*/ 4456 w 12218982"/>
              <a:gd name="connsiteY30" fmla="*/ 0 h 6860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218982" h="6860673">
                <a:moveTo>
                  <a:pt x="4456" y="0"/>
                </a:moveTo>
                <a:lnTo>
                  <a:pt x="3150735" y="0"/>
                </a:lnTo>
                <a:lnTo>
                  <a:pt x="3150734" y="1"/>
                </a:lnTo>
                <a:lnTo>
                  <a:pt x="3275209" y="1"/>
                </a:lnTo>
                <a:lnTo>
                  <a:pt x="3275209" y="0"/>
                </a:lnTo>
                <a:lnTo>
                  <a:pt x="12218982" y="0"/>
                </a:lnTo>
                <a:lnTo>
                  <a:pt x="12218982" y="1983013"/>
                </a:lnTo>
                <a:lnTo>
                  <a:pt x="12062259" y="2024385"/>
                </a:lnTo>
                <a:cubicBezTo>
                  <a:pt x="11728036" y="2099441"/>
                  <a:pt x="11364094" y="2141640"/>
                  <a:pt x="10972986" y="2139627"/>
                </a:cubicBezTo>
                <a:cubicBezTo>
                  <a:pt x="8748018" y="2128176"/>
                  <a:pt x="7788484" y="155587"/>
                  <a:pt x="5417726" y="115939"/>
                </a:cubicBezTo>
                <a:cubicBezTo>
                  <a:pt x="5278815" y="113616"/>
                  <a:pt x="5143479" y="115764"/>
                  <a:pt x="5011629" y="121918"/>
                </a:cubicBezTo>
                <a:lnTo>
                  <a:pt x="4783396" y="139697"/>
                </a:lnTo>
                <a:lnTo>
                  <a:pt x="4570293" y="145085"/>
                </a:lnTo>
                <a:cubicBezTo>
                  <a:pt x="2859647" y="231798"/>
                  <a:pt x="1397605" y="1260791"/>
                  <a:pt x="692864" y="2723368"/>
                </a:cubicBezTo>
                <a:lnTo>
                  <a:pt x="653810" y="2809752"/>
                </a:lnTo>
                <a:lnTo>
                  <a:pt x="633474" y="2851993"/>
                </a:lnTo>
                <a:cubicBezTo>
                  <a:pt x="600933" y="2920155"/>
                  <a:pt x="575052" y="2977311"/>
                  <a:pt x="551923" y="3041708"/>
                </a:cubicBezTo>
                <a:lnTo>
                  <a:pt x="532245" y="3101107"/>
                </a:lnTo>
                <a:lnTo>
                  <a:pt x="519820" y="3132620"/>
                </a:lnTo>
                <a:cubicBezTo>
                  <a:pt x="340732" y="3621732"/>
                  <a:pt x="242995" y="4150057"/>
                  <a:pt x="242995" y="4701210"/>
                </a:cubicBezTo>
                <a:cubicBezTo>
                  <a:pt x="242995" y="5409836"/>
                  <a:pt x="404560" y="6080725"/>
                  <a:pt x="692864" y="6679052"/>
                </a:cubicBezTo>
                <a:lnTo>
                  <a:pt x="784515" y="6858000"/>
                </a:lnTo>
                <a:lnTo>
                  <a:pt x="341340" y="6858000"/>
                </a:lnTo>
                <a:lnTo>
                  <a:pt x="341340" y="6860673"/>
                </a:lnTo>
                <a:lnTo>
                  <a:pt x="4456" y="6860673"/>
                </a:lnTo>
                <a:lnTo>
                  <a:pt x="4456" y="2794000"/>
                </a:lnTo>
                <a:lnTo>
                  <a:pt x="0" y="2794000"/>
                </a:lnTo>
                <a:lnTo>
                  <a:pt x="0" y="2022550"/>
                </a:lnTo>
                <a:lnTo>
                  <a:pt x="4456" y="2022550"/>
                </a:lnTo>
                <a:lnTo>
                  <a:pt x="4456" y="1646989"/>
                </a:lnTo>
                <a:lnTo>
                  <a:pt x="4456" y="0"/>
                </a:lnTo>
                <a:close/>
              </a:path>
            </a:pathLst>
          </a:custGeom>
          <a:gradFill>
            <a:gsLst>
              <a:gs pos="0">
                <a:schemeClr val="accent3">
                  <a:lumMod val="50000"/>
                </a:schemeClr>
              </a:gs>
              <a:gs pos="77000">
                <a:schemeClr val="accent3">
                  <a:lumMod val="25000"/>
                  <a:alpha val="0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Freeform 4">
            <a:extLst>
              <a:ext uri="{FF2B5EF4-FFF2-40B4-BE49-F238E27FC236}">
                <a16:creationId xmlns:a16="http://schemas.microsoft.com/office/drawing/2014/main" id="{9AD65933-4DAE-2A46-C7F9-2A20CB244088}"/>
              </a:ext>
            </a:extLst>
          </p:cNvPr>
          <p:cNvSpPr/>
          <p:nvPr userDrawn="1"/>
        </p:nvSpPr>
        <p:spPr>
          <a:xfrm>
            <a:off x="4603793" y="0"/>
            <a:ext cx="6821472" cy="1207007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41000">
                <a:schemeClr val="accent5">
                  <a:alpha val="21000"/>
                </a:schemeClr>
              </a:gs>
              <a:gs pos="98000">
                <a:schemeClr val="accent5">
                  <a:lumMod val="50000"/>
                </a:schemeClr>
              </a:gs>
            </a:gsLst>
            <a:lin ang="132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Freeform 5">
            <a:extLst>
              <a:ext uri="{FF2B5EF4-FFF2-40B4-BE49-F238E27FC236}">
                <a16:creationId xmlns:a16="http://schemas.microsoft.com/office/drawing/2014/main" id="{078C0FDD-401B-0E80-5823-215C99BAE6B2}"/>
              </a:ext>
            </a:extLst>
          </p:cNvPr>
          <p:cNvSpPr/>
          <p:nvPr userDrawn="1"/>
        </p:nvSpPr>
        <p:spPr>
          <a:xfrm rot="710202" flipH="1">
            <a:off x="6511239" y="-551340"/>
            <a:ext cx="5838132" cy="3132551"/>
          </a:xfrm>
          <a:custGeom>
            <a:avLst/>
            <a:gdLst>
              <a:gd name="connsiteX0" fmla="*/ 480125 w 6747252"/>
              <a:gd name="connsiteY0" fmla="*/ 0 h 3620355"/>
              <a:gd name="connsiteX1" fmla="*/ 6747252 w 6747252"/>
              <a:gd name="connsiteY1" fmla="*/ 1313462 h 3620355"/>
              <a:gd name="connsiteX2" fmla="*/ 6355443 w 6747252"/>
              <a:gd name="connsiteY2" fmla="*/ 1443581 h 3620355"/>
              <a:gd name="connsiteX3" fmla="*/ 4058536 w 6747252"/>
              <a:gd name="connsiteY3" fmla="*/ 2678500 h 3620355"/>
              <a:gd name="connsiteX4" fmla="*/ 33178 w 6747252"/>
              <a:gd name="connsiteY4" fmla="*/ 2369641 h 3620355"/>
              <a:gd name="connsiteX5" fmla="*/ 0 w 6747252"/>
              <a:gd name="connsiteY5" fmla="*/ 2290898 h 3620355"/>
              <a:gd name="connsiteX6" fmla="*/ 480125 w 6747252"/>
              <a:gd name="connsiteY6" fmla="*/ 0 h 3620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47252" h="3620355">
                <a:moveTo>
                  <a:pt x="480125" y="0"/>
                </a:moveTo>
                <a:lnTo>
                  <a:pt x="6747252" y="1313462"/>
                </a:lnTo>
                <a:lnTo>
                  <a:pt x="6355443" y="1443581"/>
                </a:lnTo>
                <a:cubicBezTo>
                  <a:pt x="5476828" y="1758684"/>
                  <a:pt x="4659690" y="2192443"/>
                  <a:pt x="4058536" y="2678500"/>
                </a:cubicBezTo>
                <a:cubicBezTo>
                  <a:pt x="2102261" y="4268418"/>
                  <a:pt x="625747" y="3626023"/>
                  <a:pt x="33178" y="2369641"/>
                </a:cubicBezTo>
                <a:lnTo>
                  <a:pt x="0" y="2290898"/>
                </a:lnTo>
                <a:lnTo>
                  <a:pt x="480125" y="0"/>
                </a:lnTo>
                <a:close/>
              </a:path>
            </a:pathLst>
          </a:custGeom>
          <a:gradFill flip="none" rotWithShape="1">
            <a:gsLst>
              <a:gs pos="100000">
                <a:schemeClr val="accent4">
                  <a:lumMod val="75000"/>
                  <a:alpha val="19000"/>
                </a:schemeClr>
              </a:gs>
              <a:gs pos="0">
                <a:schemeClr val="accent6">
                  <a:alpha val="61994"/>
                </a:schemeClr>
              </a:gs>
            </a:gsLst>
            <a:lin ang="27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3584" y="2176272"/>
            <a:ext cx="9921240" cy="1481328"/>
          </a:xfrm>
        </p:spPr>
        <p:txBody>
          <a:bodyPr anchor="b">
            <a:no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60320" y="4261104"/>
            <a:ext cx="7068312" cy="758952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93409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5">
            <a:extLst>
              <a:ext uri="{FF2B5EF4-FFF2-40B4-BE49-F238E27FC236}">
                <a16:creationId xmlns:a16="http://schemas.microsoft.com/office/drawing/2014/main" id="{079F0D65-9DED-1DC3-6E6D-E4AD5252A007}"/>
              </a:ext>
            </a:extLst>
          </p:cNvPr>
          <p:cNvSpPr/>
          <p:nvPr userDrawn="1"/>
        </p:nvSpPr>
        <p:spPr>
          <a:xfrm rot="16200000" flipV="1">
            <a:off x="6507450" y="1163358"/>
            <a:ext cx="6858000" cy="4531278"/>
          </a:xfrm>
          <a:custGeom>
            <a:avLst/>
            <a:gdLst>
              <a:gd name="connsiteX0" fmla="*/ 6858000 w 6858000"/>
              <a:gd name="connsiteY0" fmla="*/ 3150313 h 3750964"/>
              <a:gd name="connsiteX1" fmla="*/ 6858000 w 6858000"/>
              <a:gd name="connsiteY1" fmla="*/ 0 h 3750964"/>
              <a:gd name="connsiteX2" fmla="*/ 0 w 6858000"/>
              <a:gd name="connsiteY2" fmla="*/ 0 h 3750964"/>
              <a:gd name="connsiteX3" fmla="*/ 0 w 6858000"/>
              <a:gd name="connsiteY3" fmla="*/ 3220894 h 3750964"/>
              <a:gd name="connsiteX4" fmla="*/ 10973 w 6858000"/>
              <a:gd name="connsiteY4" fmla="*/ 3230398 h 3750964"/>
              <a:gd name="connsiteX5" fmla="*/ 1661251 w 6858000"/>
              <a:gd name="connsiteY5" fmla="*/ 3750927 h 3750964"/>
              <a:gd name="connsiteX6" fmla="*/ 4893397 w 6858000"/>
              <a:gd name="connsiteY6" fmla="*/ 2661368 h 3750964"/>
              <a:gd name="connsiteX7" fmla="*/ 6834019 w 6858000"/>
              <a:gd name="connsiteY7" fmla="*/ 3137932 h 3750964"/>
              <a:gd name="connsiteX8" fmla="*/ 6858000 w 6858000"/>
              <a:gd name="connsiteY8" fmla="*/ 3150313 h 3750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0" h="3750964">
                <a:moveTo>
                  <a:pt x="6858000" y="3150313"/>
                </a:moveTo>
                <a:lnTo>
                  <a:pt x="6858000" y="0"/>
                </a:lnTo>
                <a:lnTo>
                  <a:pt x="0" y="0"/>
                </a:lnTo>
                <a:lnTo>
                  <a:pt x="0" y="3220894"/>
                </a:lnTo>
                <a:lnTo>
                  <a:pt x="10973" y="3230398"/>
                </a:lnTo>
                <a:cubicBezTo>
                  <a:pt x="366756" y="3514112"/>
                  <a:pt x="933081" y="3754395"/>
                  <a:pt x="1661251" y="3750927"/>
                </a:cubicBezTo>
                <a:cubicBezTo>
                  <a:pt x="2955776" y="3744762"/>
                  <a:pt x="3514049" y="2682714"/>
                  <a:pt x="4893397" y="2661368"/>
                </a:cubicBezTo>
                <a:cubicBezTo>
                  <a:pt x="5755490" y="2648026"/>
                  <a:pt x="6380835" y="2908605"/>
                  <a:pt x="6834019" y="3137932"/>
                </a:cubicBezTo>
                <a:lnTo>
                  <a:pt x="6858000" y="3150313"/>
                </a:lnTo>
                <a:close/>
              </a:path>
            </a:pathLst>
          </a:custGeom>
          <a:solidFill>
            <a:schemeClr val="accent4">
              <a:alpha val="14239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Freeform 18">
            <a:extLst>
              <a:ext uri="{FF2B5EF4-FFF2-40B4-BE49-F238E27FC236}">
                <a16:creationId xmlns:a16="http://schemas.microsoft.com/office/drawing/2014/main" id="{9C605622-8F1F-632F-D5C0-1F2E7875EBA1}"/>
              </a:ext>
            </a:extLst>
          </p:cNvPr>
          <p:cNvSpPr/>
          <p:nvPr userDrawn="1"/>
        </p:nvSpPr>
        <p:spPr>
          <a:xfrm rot="5400000">
            <a:off x="6488397" y="1182411"/>
            <a:ext cx="6858000" cy="4493171"/>
          </a:xfrm>
          <a:custGeom>
            <a:avLst/>
            <a:gdLst>
              <a:gd name="connsiteX0" fmla="*/ 0 w 6858000"/>
              <a:gd name="connsiteY0" fmla="*/ 3300688 h 4744323"/>
              <a:gd name="connsiteX1" fmla="*/ 0 w 6858000"/>
              <a:gd name="connsiteY1" fmla="*/ 0 h 4744323"/>
              <a:gd name="connsiteX2" fmla="*/ 6858000 w 6858000"/>
              <a:gd name="connsiteY2" fmla="*/ 0 h 4744323"/>
              <a:gd name="connsiteX3" fmla="*/ 6858000 w 6858000"/>
              <a:gd name="connsiteY3" fmla="*/ 3130282 h 4744323"/>
              <a:gd name="connsiteX4" fmla="*/ 6685009 w 6858000"/>
              <a:gd name="connsiteY4" fmla="*/ 3177721 h 4744323"/>
              <a:gd name="connsiteX5" fmla="*/ 2944852 w 6858000"/>
              <a:gd name="connsiteY5" fmla="*/ 4744264 h 4744323"/>
              <a:gd name="connsiteX6" fmla="*/ 88593 w 6858000"/>
              <a:gd name="connsiteY6" fmla="*/ 3449517 h 4744323"/>
              <a:gd name="connsiteX7" fmla="*/ 0 w 6858000"/>
              <a:gd name="connsiteY7" fmla="*/ 3300688 h 47443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0" h="4744323">
                <a:moveTo>
                  <a:pt x="0" y="3300688"/>
                </a:moveTo>
                <a:lnTo>
                  <a:pt x="0" y="0"/>
                </a:lnTo>
                <a:lnTo>
                  <a:pt x="6858000" y="0"/>
                </a:lnTo>
                <a:lnTo>
                  <a:pt x="6858000" y="3130282"/>
                </a:lnTo>
                <a:lnTo>
                  <a:pt x="6685009" y="3177721"/>
                </a:lnTo>
                <a:cubicBezTo>
                  <a:pt x="5333681" y="3615865"/>
                  <a:pt x="4498161" y="4736270"/>
                  <a:pt x="2944852" y="4744264"/>
                </a:cubicBezTo>
                <a:cubicBezTo>
                  <a:pt x="1511029" y="4751644"/>
                  <a:pt x="502120" y="4067469"/>
                  <a:pt x="88593" y="3449517"/>
                </a:cubicBezTo>
                <a:lnTo>
                  <a:pt x="0" y="3300688"/>
                </a:lnTo>
                <a:close/>
              </a:path>
            </a:pathLst>
          </a:custGeom>
          <a:gradFill flip="none" rotWithShape="1">
            <a:gsLst>
              <a:gs pos="4000">
                <a:schemeClr val="accent2">
                  <a:alpha val="23589"/>
                </a:schemeClr>
              </a:gs>
              <a:gs pos="79000">
                <a:schemeClr val="accent5">
                  <a:lumMod val="50000"/>
                  <a:alpha val="52188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Freeform 12">
            <a:extLst>
              <a:ext uri="{FF2B5EF4-FFF2-40B4-BE49-F238E27FC236}">
                <a16:creationId xmlns:a16="http://schemas.microsoft.com/office/drawing/2014/main" id="{919AB4B2-2D3A-FCB5-0314-CC465BCC0E5D}"/>
              </a:ext>
            </a:extLst>
          </p:cNvPr>
          <p:cNvSpPr/>
          <p:nvPr userDrawn="1"/>
        </p:nvSpPr>
        <p:spPr>
          <a:xfrm rot="5400000">
            <a:off x="6926379" y="1582290"/>
            <a:ext cx="6858001" cy="3693421"/>
          </a:xfrm>
          <a:custGeom>
            <a:avLst/>
            <a:gdLst>
              <a:gd name="connsiteX0" fmla="*/ 0 w 6858001"/>
              <a:gd name="connsiteY0" fmla="*/ 3437558 h 3693421"/>
              <a:gd name="connsiteX1" fmla="*/ 0 w 6858001"/>
              <a:gd name="connsiteY1" fmla="*/ 0 h 3693421"/>
              <a:gd name="connsiteX2" fmla="*/ 6858001 w 6858001"/>
              <a:gd name="connsiteY2" fmla="*/ 0 h 3693421"/>
              <a:gd name="connsiteX3" fmla="*/ 6858001 w 6858001"/>
              <a:gd name="connsiteY3" fmla="*/ 1982949 h 3693421"/>
              <a:gd name="connsiteX4" fmla="*/ 6594582 w 6858001"/>
              <a:gd name="connsiteY4" fmla="*/ 1960784 h 3693421"/>
              <a:gd name="connsiteX5" fmla="*/ 6223032 w 6858001"/>
              <a:gd name="connsiteY5" fmla="*/ 1954544 h 3693421"/>
              <a:gd name="connsiteX6" fmla="*/ 1449771 w 6858001"/>
              <a:gd name="connsiteY6" fmla="*/ 3693362 h 3693421"/>
              <a:gd name="connsiteX7" fmla="*/ 163899 w 6858001"/>
              <a:gd name="connsiteY7" fmla="*/ 3498289 h 3693421"/>
              <a:gd name="connsiteX8" fmla="*/ 0 w 6858001"/>
              <a:gd name="connsiteY8" fmla="*/ 3437558 h 36934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1" h="3693421">
                <a:moveTo>
                  <a:pt x="0" y="3437558"/>
                </a:moveTo>
                <a:lnTo>
                  <a:pt x="0" y="0"/>
                </a:lnTo>
                <a:lnTo>
                  <a:pt x="6858001" y="0"/>
                </a:lnTo>
                <a:lnTo>
                  <a:pt x="6858001" y="1982949"/>
                </a:lnTo>
                <a:lnTo>
                  <a:pt x="6594582" y="1960784"/>
                </a:lnTo>
                <a:cubicBezTo>
                  <a:pt x="6474164" y="1954657"/>
                  <a:pt x="6350346" y="1952415"/>
                  <a:pt x="6223032" y="1954544"/>
                </a:cubicBezTo>
                <a:cubicBezTo>
                  <a:pt x="4185999" y="1988612"/>
                  <a:pt x="3361537" y="3683524"/>
                  <a:pt x="1449771" y="3693362"/>
                </a:cubicBezTo>
                <a:cubicBezTo>
                  <a:pt x="971830" y="3695822"/>
                  <a:pt x="541102" y="3621442"/>
                  <a:pt x="163899" y="3498289"/>
                </a:cubicBezTo>
                <a:lnTo>
                  <a:pt x="0" y="3437558"/>
                </a:lnTo>
                <a:close/>
              </a:path>
            </a:pathLst>
          </a:custGeom>
          <a:gradFill>
            <a:gsLst>
              <a:gs pos="84000">
                <a:schemeClr val="accent4">
                  <a:alpha val="20000"/>
                </a:schemeClr>
              </a:gs>
              <a:gs pos="1000">
                <a:schemeClr val="accent6">
                  <a:alpha val="38000"/>
                </a:schemeClr>
              </a:gs>
              <a:gs pos="100000">
                <a:schemeClr val="accent6">
                  <a:alpha val="3349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92257B9-FE58-1976-7115-17E05E5819E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AF040BB-6465-852C-B53C-074E90BB09D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 dirty="0"/>
              <a:t>Crypto: investing &amp; trading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6192" y="832104"/>
            <a:ext cx="8878824" cy="1069848"/>
          </a:xfrm>
        </p:spPr>
        <p:txBody>
          <a:bodyPr anchor="b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6192" y="2212848"/>
            <a:ext cx="6422136" cy="3282696"/>
          </a:xfrm>
        </p:spPr>
        <p:txBody>
          <a:bodyPr>
            <a:noAutofit/>
          </a:bodyPr>
          <a:lstStyle>
            <a:lvl1pPr marL="347472">
              <a:lnSpc>
                <a:spcPct val="150000"/>
              </a:lnSpc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31674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9BE68DE5-FB8F-C713-B589-69851789C6C5}"/>
              </a:ext>
            </a:extLst>
          </p:cNvPr>
          <p:cNvSpPr/>
          <p:nvPr userDrawn="1"/>
        </p:nvSpPr>
        <p:spPr>
          <a:xfrm>
            <a:off x="1" y="4852144"/>
            <a:ext cx="5681755" cy="2002200"/>
          </a:xfrm>
          <a:custGeom>
            <a:avLst/>
            <a:gdLst>
              <a:gd name="connsiteX0" fmla="*/ 320629 w 5681755"/>
              <a:gd name="connsiteY0" fmla="*/ 0 h 2002200"/>
              <a:gd name="connsiteX1" fmla="*/ 375829 w 5681755"/>
              <a:gd name="connsiteY1" fmla="*/ 158026 h 2002200"/>
              <a:gd name="connsiteX2" fmla="*/ 897491 w 5681755"/>
              <a:gd name="connsiteY2" fmla="*/ 961690 h 2002200"/>
              <a:gd name="connsiteX3" fmla="*/ 4054478 w 5681755"/>
              <a:gd name="connsiteY3" fmla="*/ 1474149 h 2002200"/>
              <a:gd name="connsiteX4" fmla="*/ 5679398 w 5681755"/>
              <a:gd name="connsiteY4" fmla="*/ 1986034 h 2002200"/>
              <a:gd name="connsiteX5" fmla="*/ 5681755 w 5681755"/>
              <a:gd name="connsiteY5" fmla="*/ 2002200 h 2002200"/>
              <a:gd name="connsiteX6" fmla="*/ 0 w 5681755"/>
              <a:gd name="connsiteY6" fmla="*/ 1989323 h 2002200"/>
              <a:gd name="connsiteX7" fmla="*/ 0 w 5681755"/>
              <a:gd name="connsiteY7" fmla="*/ 1952135 h 200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681755" h="2002200">
                <a:moveTo>
                  <a:pt x="320629" y="0"/>
                </a:moveTo>
                <a:lnTo>
                  <a:pt x="375829" y="158026"/>
                </a:lnTo>
                <a:cubicBezTo>
                  <a:pt x="503741" y="486192"/>
                  <a:pt x="688117" y="753054"/>
                  <a:pt x="897491" y="961690"/>
                </a:cubicBezTo>
                <a:cubicBezTo>
                  <a:pt x="1455821" y="1518049"/>
                  <a:pt x="3033468" y="1694058"/>
                  <a:pt x="4054478" y="1474149"/>
                </a:cubicBezTo>
                <a:cubicBezTo>
                  <a:pt x="5094564" y="1247948"/>
                  <a:pt x="5587838" y="1548928"/>
                  <a:pt x="5679398" y="1986034"/>
                </a:cubicBezTo>
                <a:lnTo>
                  <a:pt x="5681755" y="2002200"/>
                </a:lnTo>
                <a:lnTo>
                  <a:pt x="0" y="1989323"/>
                </a:lnTo>
                <a:lnTo>
                  <a:pt x="0" y="1952135"/>
                </a:lnTo>
                <a:close/>
              </a:path>
            </a:pathLst>
          </a:custGeom>
          <a:gradFill flip="none" rotWithShape="1">
            <a:gsLst>
              <a:gs pos="77000">
                <a:schemeClr val="accent3">
                  <a:lumMod val="25000"/>
                  <a:alpha val="0"/>
                </a:schemeClr>
              </a:gs>
              <a:gs pos="0">
                <a:schemeClr val="tx2">
                  <a:alpha val="70774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76B337A9-EA8E-4E30-3CF4-C681F9705934}"/>
              </a:ext>
            </a:extLst>
          </p:cNvPr>
          <p:cNvSpPr/>
          <p:nvPr userDrawn="1"/>
        </p:nvSpPr>
        <p:spPr>
          <a:xfrm>
            <a:off x="1" y="0"/>
            <a:ext cx="6392389" cy="3297866"/>
          </a:xfrm>
          <a:custGeom>
            <a:avLst/>
            <a:gdLst>
              <a:gd name="connsiteX0" fmla="*/ 0 w 6392389"/>
              <a:gd name="connsiteY0" fmla="*/ 0 h 3297866"/>
              <a:gd name="connsiteX1" fmla="*/ 6392389 w 6392389"/>
              <a:gd name="connsiteY1" fmla="*/ 0 h 3297866"/>
              <a:gd name="connsiteX2" fmla="*/ 6039257 w 6392389"/>
              <a:gd name="connsiteY2" fmla="*/ 205593 h 3297866"/>
              <a:gd name="connsiteX3" fmla="*/ 4044501 w 6392389"/>
              <a:gd name="connsiteY3" fmla="*/ 1885401 h 3297866"/>
              <a:gd name="connsiteX4" fmla="*/ 41384 w 6392389"/>
              <a:gd name="connsiteY4" fmla="*/ 2408804 h 3297866"/>
              <a:gd name="connsiteX5" fmla="*/ 0 w 6392389"/>
              <a:gd name="connsiteY5" fmla="*/ 2349004 h 329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392389" h="3297866">
                <a:moveTo>
                  <a:pt x="0" y="0"/>
                </a:moveTo>
                <a:lnTo>
                  <a:pt x="6392389" y="0"/>
                </a:lnTo>
                <a:lnTo>
                  <a:pt x="6039257" y="205593"/>
                </a:lnTo>
                <a:cubicBezTo>
                  <a:pt x="5243960" y="694220"/>
                  <a:pt x="4533171" y="1286369"/>
                  <a:pt x="4044501" y="1885401"/>
                </a:cubicBezTo>
                <a:cubicBezTo>
                  <a:pt x="2455953" y="3842789"/>
                  <a:pt x="879065" y="3516921"/>
                  <a:pt x="41384" y="2408804"/>
                </a:cubicBezTo>
                <a:lnTo>
                  <a:pt x="0" y="2349004"/>
                </a:lnTo>
                <a:close/>
              </a:path>
            </a:pathLst>
          </a:custGeom>
          <a:gradFill flip="none" rotWithShape="1">
            <a:gsLst>
              <a:gs pos="20000">
                <a:schemeClr val="accent3">
                  <a:lumMod val="25000"/>
                </a:schemeClr>
              </a:gs>
              <a:gs pos="100000">
                <a:schemeClr val="tx2">
                  <a:alpha val="54000"/>
                </a:schemeClr>
              </a:gs>
            </a:gsLst>
            <a:lin ang="102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3385D1DB-F6B1-8F65-1FDB-5CDD731A6DFC}"/>
              </a:ext>
            </a:extLst>
          </p:cNvPr>
          <p:cNvSpPr/>
          <p:nvPr userDrawn="1"/>
        </p:nvSpPr>
        <p:spPr>
          <a:xfrm>
            <a:off x="9517205" y="2"/>
            <a:ext cx="2674794" cy="6857999"/>
          </a:xfrm>
          <a:custGeom>
            <a:avLst/>
            <a:gdLst>
              <a:gd name="connsiteX0" fmla="*/ 2674793 w 2674794"/>
              <a:gd name="connsiteY0" fmla="*/ 0 h 6857999"/>
              <a:gd name="connsiteX1" fmla="*/ 2674794 w 2674794"/>
              <a:gd name="connsiteY1" fmla="*/ 6857999 h 6857999"/>
              <a:gd name="connsiteX2" fmla="*/ 1158844 w 2674794"/>
              <a:gd name="connsiteY2" fmla="*/ 6857999 h 6857999"/>
              <a:gd name="connsiteX3" fmla="*/ 1212639 w 2674794"/>
              <a:gd name="connsiteY3" fmla="*/ 6771304 h 6857999"/>
              <a:gd name="connsiteX4" fmla="*/ 1327460 w 2674794"/>
              <a:gd name="connsiteY4" fmla="*/ 6554527 h 6857999"/>
              <a:gd name="connsiteX5" fmla="*/ 545566 w 2674794"/>
              <a:gd name="connsiteY5" fmla="*/ 2293136 h 6857999"/>
              <a:gd name="connsiteX6" fmla="*/ 381787 w 2674794"/>
              <a:gd name="connsiteY6" fmla="*/ 3827 h 6857999"/>
              <a:gd name="connsiteX7" fmla="*/ 386161 w 2674794"/>
              <a:gd name="connsiteY7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74794" h="6857999">
                <a:moveTo>
                  <a:pt x="2674793" y="0"/>
                </a:moveTo>
                <a:lnTo>
                  <a:pt x="2674794" y="6857999"/>
                </a:lnTo>
                <a:lnTo>
                  <a:pt x="1158844" y="6857999"/>
                </a:lnTo>
                <a:lnTo>
                  <a:pt x="1212639" y="6771304"/>
                </a:lnTo>
                <a:cubicBezTo>
                  <a:pt x="1256917" y="6696480"/>
                  <a:pt x="1295401" y="6624001"/>
                  <a:pt x="1327460" y="6554527"/>
                </a:cubicBezTo>
                <a:cubicBezTo>
                  <a:pt x="1840424" y="5442926"/>
                  <a:pt x="1337703" y="3374924"/>
                  <a:pt x="545566" y="2293136"/>
                </a:cubicBezTo>
                <a:cubicBezTo>
                  <a:pt x="-210423" y="1266170"/>
                  <a:pt x="-98154" y="469786"/>
                  <a:pt x="381787" y="3827"/>
                </a:cubicBezTo>
                <a:lnTo>
                  <a:pt x="386161" y="0"/>
                </a:lnTo>
                <a:close/>
              </a:path>
            </a:pathLst>
          </a:custGeom>
          <a:solidFill>
            <a:schemeClr val="tx2">
              <a:alpha val="32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glass card">
            <a:extLst>
              <a:ext uri="{FF2B5EF4-FFF2-40B4-BE49-F238E27FC236}">
                <a16:creationId xmlns:a16="http://schemas.microsoft.com/office/drawing/2014/main" id="{BAC99002-32F5-F4C1-2519-F23274B0580C}"/>
              </a:ext>
            </a:extLst>
          </p:cNvPr>
          <p:cNvSpPr/>
          <p:nvPr userDrawn="1"/>
        </p:nvSpPr>
        <p:spPr>
          <a:xfrm>
            <a:off x="1365705" y="1005155"/>
            <a:ext cx="9243233" cy="4978750"/>
          </a:xfrm>
          <a:prstGeom prst="roundRect">
            <a:avLst>
              <a:gd name="adj" fmla="val 6806"/>
            </a:avLst>
          </a:prstGeom>
          <a:gradFill>
            <a:gsLst>
              <a:gs pos="100000">
                <a:schemeClr val="bg1">
                  <a:alpha val="3000"/>
                </a:schemeClr>
              </a:gs>
              <a:gs pos="47000">
                <a:schemeClr val="bg1">
                  <a:alpha val="17037"/>
                </a:schemeClr>
              </a:gs>
              <a:gs pos="6000">
                <a:schemeClr val="bg1">
                  <a:alpha val="13000"/>
                </a:schemeClr>
              </a:gs>
            </a:gsLst>
            <a:path path="circle">
              <a:fillToRect l="100000" t="100000"/>
            </a:path>
          </a:gradFill>
          <a:ln w="6350">
            <a:noFill/>
          </a:ln>
          <a:effectLst>
            <a:outerShdw blurRad="63500" dist="38100" dir="5400000" sx="1000" sy="1000" algn="t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28088" y="2157984"/>
            <a:ext cx="7735824" cy="1069848"/>
          </a:xfrm>
        </p:spPr>
        <p:txBody>
          <a:bodyPr anchor="b">
            <a:no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8088" y="3685032"/>
            <a:ext cx="7735824" cy="1133856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0DF239B3-DB66-3CD4-1BFE-4EBA82BC4A44}"/>
              </a:ext>
            </a:extLst>
          </p:cNvPr>
          <p:cNvSpPr/>
          <p:nvPr userDrawn="1"/>
        </p:nvSpPr>
        <p:spPr>
          <a:xfrm>
            <a:off x="0" y="5255333"/>
            <a:ext cx="2769194" cy="1602667"/>
          </a:xfrm>
          <a:custGeom>
            <a:avLst/>
            <a:gdLst>
              <a:gd name="connsiteX0" fmla="*/ 0 w 2769194"/>
              <a:gd name="connsiteY0" fmla="*/ 0 h 1602667"/>
              <a:gd name="connsiteX1" fmla="*/ 93250 w 2769194"/>
              <a:gd name="connsiteY1" fmla="*/ 101565 h 1602667"/>
              <a:gd name="connsiteX2" fmla="*/ 2646213 w 2769194"/>
              <a:gd name="connsiteY2" fmla="*/ 1567071 h 1602667"/>
              <a:gd name="connsiteX3" fmla="*/ 2769194 w 2769194"/>
              <a:gd name="connsiteY3" fmla="*/ 1602667 h 1602667"/>
              <a:gd name="connsiteX4" fmla="*/ 0 w 2769194"/>
              <a:gd name="connsiteY4" fmla="*/ 1602667 h 1602667"/>
              <a:gd name="connsiteX5" fmla="*/ 0 w 2769194"/>
              <a:gd name="connsiteY5" fmla="*/ 807120 h 1602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69194" h="1602667">
                <a:moveTo>
                  <a:pt x="0" y="0"/>
                </a:moveTo>
                <a:lnTo>
                  <a:pt x="93250" y="101565"/>
                </a:lnTo>
                <a:cubicBezTo>
                  <a:pt x="702540" y="735306"/>
                  <a:pt x="1672588" y="1259605"/>
                  <a:pt x="2646213" y="1567071"/>
                </a:cubicBezTo>
                <a:lnTo>
                  <a:pt x="2769194" y="1602667"/>
                </a:lnTo>
                <a:lnTo>
                  <a:pt x="0" y="1602667"/>
                </a:lnTo>
                <a:lnTo>
                  <a:pt x="0" y="807120"/>
                </a:lnTo>
                <a:close/>
              </a:path>
            </a:pathLst>
          </a:custGeom>
          <a:gradFill flip="none" rotWithShape="1">
            <a:gsLst>
              <a:gs pos="60000">
                <a:schemeClr val="accent3">
                  <a:alpha val="45000"/>
                </a:schemeClr>
              </a:gs>
              <a:gs pos="99000">
                <a:schemeClr val="accent5">
                  <a:alpha val="66721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3303B57-FF55-B795-FAE7-5EF26BFCBEF3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115287" y="2597113"/>
            <a:ext cx="0" cy="165518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71699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FA2E8-50A1-4465-AC33-6FAC0E773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2824" y="1856232"/>
            <a:ext cx="4718304" cy="1069848"/>
          </a:xfrm>
        </p:spPr>
        <p:txBody>
          <a:bodyPr anchor="b">
            <a:no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65DE34-CDB7-41F7-A95A-592B99558C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01968" y="3374136"/>
            <a:ext cx="4709160" cy="2395728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Freeform 14">
            <a:extLst>
              <a:ext uri="{FF2B5EF4-FFF2-40B4-BE49-F238E27FC236}">
                <a16:creationId xmlns:a16="http://schemas.microsoft.com/office/drawing/2014/main" id="{907BDD9A-3C2A-A21B-A425-1BB45BF5C103}"/>
              </a:ext>
            </a:extLst>
          </p:cNvPr>
          <p:cNvSpPr/>
          <p:nvPr userDrawn="1"/>
        </p:nvSpPr>
        <p:spPr>
          <a:xfrm rot="5400000" flipH="1" flipV="1">
            <a:off x="-1248967" y="1248969"/>
            <a:ext cx="6858000" cy="4360065"/>
          </a:xfrm>
          <a:custGeom>
            <a:avLst/>
            <a:gdLst>
              <a:gd name="connsiteX0" fmla="*/ 6858000 w 6858000"/>
              <a:gd name="connsiteY0" fmla="*/ 0 h 4360065"/>
              <a:gd name="connsiteX1" fmla="*/ 6858000 w 6858000"/>
              <a:gd name="connsiteY1" fmla="*/ 4019634 h 4360065"/>
              <a:gd name="connsiteX2" fmla="*/ 6786526 w 6858000"/>
              <a:gd name="connsiteY2" fmla="*/ 3987694 h 4360065"/>
              <a:gd name="connsiteX3" fmla="*/ 4380589 w 6858000"/>
              <a:gd name="connsiteY3" fmla="*/ 3270469 h 4360065"/>
              <a:gd name="connsiteX4" fmla="*/ 1148443 w 6858000"/>
              <a:gd name="connsiteY4" fmla="*/ 4360028 h 4360065"/>
              <a:gd name="connsiteX5" fmla="*/ 93033 w 6858000"/>
              <a:gd name="connsiteY5" fmla="*/ 4174462 h 4360065"/>
              <a:gd name="connsiteX6" fmla="*/ 0 w 6858000"/>
              <a:gd name="connsiteY6" fmla="*/ 4134599 h 4360065"/>
              <a:gd name="connsiteX7" fmla="*/ 0 w 6858000"/>
              <a:gd name="connsiteY7" fmla="*/ 0 h 4360065"/>
              <a:gd name="connsiteX8" fmla="*/ 6858000 w 6858000"/>
              <a:gd name="connsiteY8" fmla="*/ 0 h 436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0" h="4360065">
                <a:moveTo>
                  <a:pt x="6858000" y="0"/>
                </a:moveTo>
                <a:lnTo>
                  <a:pt x="6858000" y="4019634"/>
                </a:lnTo>
                <a:lnTo>
                  <a:pt x="6786526" y="3987694"/>
                </a:lnTo>
                <a:cubicBezTo>
                  <a:pt x="6330423" y="3769997"/>
                  <a:pt x="5587519" y="3251791"/>
                  <a:pt x="4380589" y="3270469"/>
                </a:cubicBezTo>
                <a:cubicBezTo>
                  <a:pt x="3001241" y="3291816"/>
                  <a:pt x="2442968" y="4353863"/>
                  <a:pt x="1148443" y="4360028"/>
                </a:cubicBezTo>
                <a:cubicBezTo>
                  <a:pt x="743904" y="4361955"/>
                  <a:pt x="389317" y="4288650"/>
                  <a:pt x="93033" y="4174462"/>
                </a:cubicBezTo>
                <a:lnTo>
                  <a:pt x="0" y="4134599"/>
                </a:lnTo>
                <a:lnTo>
                  <a:pt x="0" y="0"/>
                </a:lnTo>
                <a:lnTo>
                  <a:pt x="6858000" y="0"/>
                </a:lnTo>
                <a:close/>
              </a:path>
            </a:pathLst>
          </a:custGeom>
          <a:solidFill>
            <a:schemeClr val="accent4">
              <a:alpha val="1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Freeform 16">
            <a:extLst>
              <a:ext uri="{FF2B5EF4-FFF2-40B4-BE49-F238E27FC236}">
                <a16:creationId xmlns:a16="http://schemas.microsoft.com/office/drawing/2014/main" id="{989D7F61-B47A-97D5-F725-EC5EFE81187A}"/>
              </a:ext>
            </a:extLst>
          </p:cNvPr>
          <p:cNvSpPr/>
          <p:nvPr userDrawn="1"/>
        </p:nvSpPr>
        <p:spPr>
          <a:xfrm rot="16200000" flipH="1">
            <a:off x="-952024" y="952025"/>
            <a:ext cx="6858000" cy="4953950"/>
          </a:xfrm>
          <a:custGeom>
            <a:avLst/>
            <a:gdLst>
              <a:gd name="connsiteX0" fmla="*/ 0 w 6858000"/>
              <a:gd name="connsiteY0" fmla="*/ 0 h 4953950"/>
              <a:gd name="connsiteX1" fmla="*/ 0 w 6858000"/>
              <a:gd name="connsiteY1" fmla="*/ 4289773 h 4953950"/>
              <a:gd name="connsiteX2" fmla="*/ 181159 w 6858000"/>
              <a:gd name="connsiteY2" fmla="*/ 4411259 h 4953950"/>
              <a:gd name="connsiteX3" fmla="*/ 2222746 w 6858000"/>
              <a:gd name="connsiteY3" fmla="*/ 4953891 h 4953950"/>
              <a:gd name="connsiteX4" fmla="*/ 6808516 w 6858000"/>
              <a:gd name="connsiteY4" fmla="*/ 3223031 h 4953950"/>
              <a:gd name="connsiteX5" fmla="*/ 6858000 w 6858000"/>
              <a:gd name="connsiteY5" fmla="*/ 3220931 h 4953950"/>
              <a:gd name="connsiteX6" fmla="*/ 6858000 w 6858000"/>
              <a:gd name="connsiteY6" fmla="*/ 0 h 4953950"/>
              <a:gd name="connsiteX7" fmla="*/ 0 w 6858000"/>
              <a:gd name="connsiteY7" fmla="*/ 0 h 495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0" h="4953950">
                <a:moveTo>
                  <a:pt x="0" y="0"/>
                </a:moveTo>
                <a:lnTo>
                  <a:pt x="0" y="4289773"/>
                </a:lnTo>
                <a:lnTo>
                  <a:pt x="181159" y="4411259"/>
                </a:lnTo>
                <a:cubicBezTo>
                  <a:pt x="694541" y="4727180"/>
                  <a:pt x="1386349" y="4958196"/>
                  <a:pt x="2222746" y="4953891"/>
                </a:cubicBezTo>
                <a:cubicBezTo>
                  <a:pt x="4074768" y="4944360"/>
                  <a:pt x="4906383" y="3353427"/>
                  <a:pt x="6808516" y="3223031"/>
                </a:cubicBezTo>
                <a:lnTo>
                  <a:pt x="6858000" y="3220931"/>
                </a:lnTo>
                <a:lnTo>
                  <a:pt x="6858000" y="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20000">
                <a:schemeClr val="accent6">
                  <a:alpha val="52965"/>
                </a:schemeClr>
              </a:gs>
              <a:gs pos="90000">
                <a:schemeClr val="accent5">
                  <a:lumMod val="50000"/>
                  <a:alpha val="72473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Freeform 17">
            <a:extLst>
              <a:ext uri="{FF2B5EF4-FFF2-40B4-BE49-F238E27FC236}">
                <a16:creationId xmlns:a16="http://schemas.microsoft.com/office/drawing/2014/main" id="{A70008D0-0FB3-5B8D-3060-6EDD9E247095}"/>
              </a:ext>
            </a:extLst>
          </p:cNvPr>
          <p:cNvSpPr/>
          <p:nvPr userDrawn="1"/>
        </p:nvSpPr>
        <p:spPr>
          <a:xfrm rot="16200000" flipH="1">
            <a:off x="-1513890" y="1513891"/>
            <a:ext cx="6858000" cy="3830219"/>
          </a:xfrm>
          <a:custGeom>
            <a:avLst/>
            <a:gdLst>
              <a:gd name="connsiteX0" fmla="*/ 0 w 6858000"/>
              <a:gd name="connsiteY0" fmla="*/ 0 h 3830219"/>
              <a:gd name="connsiteX1" fmla="*/ 0 w 6858000"/>
              <a:gd name="connsiteY1" fmla="*/ 2994317 h 3830219"/>
              <a:gd name="connsiteX2" fmla="*/ 150933 w 6858000"/>
              <a:gd name="connsiteY2" fmla="*/ 2952927 h 3830219"/>
              <a:gd name="connsiteX3" fmla="*/ 533317 w 6858000"/>
              <a:gd name="connsiteY3" fmla="*/ 2907735 h 3830219"/>
              <a:gd name="connsiteX4" fmla="*/ 2516906 w 6858000"/>
              <a:gd name="connsiteY4" fmla="*/ 3558655 h 3830219"/>
              <a:gd name="connsiteX5" fmla="*/ 2542419 w 6858000"/>
              <a:gd name="connsiteY5" fmla="*/ 3568616 h 3830219"/>
              <a:gd name="connsiteX6" fmla="*/ 2607100 w 6858000"/>
              <a:gd name="connsiteY6" fmla="*/ 3608308 h 3830219"/>
              <a:gd name="connsiteX7" fmla="*/ 3580199 w 6858000"/>
              <a:gd name="connsiteY7" fmla="*/ 3830188 h 3830219"/>
              <a:gd name="connsiteX8" fmla="*/ 6145368 w 6858000"/>
              <a:gd name="connsiteY8" fmla="*/ 2895740 h 3830219"/>
              <a:gd name="connsiteX9" fmla="*/ 6711794 w 6858000"/>
              <a:gd name="connsiteY9" fmla="*/ 2941805 h 3830219"/>
              <a:gd name="connsiteX10" fmla="*/ 6858000 w 6858000"/>
              <a:gd name="connsiteY10" fmla="*/ 2973381 h 3830219"/>
              <a:gd name="connsiteX11" fmla="*/ 6858000 w 6858000"/>
              <a:gd name="connsiteY11" fmla="*/ 0 h 3830219"/>
              <a:gd name="connsiteX12" fmla="*/ 0 w 6858000"/>
              <a:gd name="connsiteY12" fmla="*/ 0 h 3830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58000" h="3830219">
                <a:moveTo>
                  <a:pt x="0" y="0"/>
                </a:moveTo>
                <a:lnTo>
                  <a:pt x="0" y="2994317"/>
                </a:lnTo>
                <a:lnTo>
                  <a:pt x="150933" y="2952927"/>
                </a:lnTo>
                <a:cubicBezTo>
                  <a:pt x="269822" y="2926258"/>
                  <a:pt x="396478" y="2910024"/>
                  <a:pt x="533317" y="2907735"/>
                </a:cubicBezTo>
                <a:cubicBezTo>
                  <a:pt x="1559606" y="2890571"/>
                  <a:pt x="2163137" y="3401988"/>
                  <a:pt x="2516906" y="3558655"/>
                </a:cubicBezTo>
                <a:lnTo>
                  <a:pt x="2542419" y="3568616"/>
                </a:lnTo>
                <a:lnTo>
                  <a:pt x="2607100" y="3608308"/>
                </a:lnTo>
                <a:cubicBezTo>
                  <a:pt x="2866745" y="3741243"/>
                  <a:pt x="3194928" y="3832171"/>
                  <a:pt x="3580199" y="3830188"/>
                </a:cubicBezTo>
                <a:cubicBezTo>
                  <a:pt x="4607589" y="3824901"/>
                  <a:pt x="5050658" y="2914049"/>
                  <a:pt x="6145368" y="2895740"/>
                </a:cubicBezTo>
                <a:cubicBezTo>
                  <a:pt x="6350626" y="2892307"/>
                  <a:pt x="6538973" y="2910018"/>
                  <a:pt x="6711794" y="2941805"/>
                </a:cubicBezTo>
                <a:lnTo>
                  <a:pt x="6858000" y="2973381"/>
                </a:lnTo>
                <a:lnTo>
                  <a:pt x="6858000" y="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45000">
                <a:schemeClr val="accent6">
                  <a:alpha val="29951"/>
                </a:schemeClr>
              </a:gs>
              <a:gs pos="99000">
                <a:schemeClr val="accent4">
                  <a:lumMod val="75000"/>
                  <a:alpha val="27340"/>
                </a:schemeClr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CA6FFAC-0E5C-DA2F-C0F9-D5602F928AEC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7545111" y="2275586"/>
            <a:ext cx="0" cy="165518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26350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5ED18-7A07-47F1-8056-CD86B076A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356206-85FD-45F5-A1F7-128DB34C8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Crypto: investing &amp; trading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03763F-C8CD-4BCB-9A0A-B10F000BC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6947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392" y="832104"/>
            <a:ext cx="10881360" cy="10698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984" y="2212848"/>
            <a:ext cx="10332720" cy="35478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29184" y="411480"/>
            <a:ext cx="521208" cy="31089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 b="0" i="0">
                <a:solidFill>
                  <a:schemeClr val="bg1"/>
                </a:solidFill>
                <a:latin typeface="+mn-lt"/>
                <a:cs typeface="Segoe UI Light" panose="020B0502040204020203" pitchFamily="34" charset="0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6344" y="6190488"/>
            <a:ext cx="2331720" cy="2743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 b="0" i="0">
                <a:solidFill>
                  <a:schemeClr val="bg1"/>
                </a:solidFill>
                <a:latin typeface="+mn-lt"/>
                <a:cs typeface="Segoe UI Light" panose="020B0502040204020203" pitchFamily="34" charset="0"/>
              </a:defRPr>
            </a:lvl1pPr>
          </a:lstStyle>
          <a:p>
            <a:r>
              <a:rPr lang="en-US" dirty="0"/>
              <a:t>Crypto: investing &amp; trading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BA4A2D6-617E-EEA3-E4EE-5BDB472F6A43}"/>
              </a:ext>
            </a:extLst>
          </p:cNvPr>
          <p:cNvCxnSpPr>
            <a:cxnSpLocks/>
          </p:cNvCxnSpPr>
          <p:nvPr userDrawn="1"/>
        </p:nvCxnSpPr>
        <p:spPr>
          <a:xfrm>
            <a:off x="594170" y="846661"/>
            <a:ext cx="0" cy="5111012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51" r:id="rId4"/>
    <p:sldLayoutId id="2147483654" r:id="rId5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 cap="all" spc="60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347472" algn="l" defTabSz="914400" rtl="0" eaLnBrk="1" latinLnBrk="0" hangingPunct="1">
        <a:lnSpc>
          <a:spcPct val="90000"/>
        </a:lnSpc>
        <a:spcBef>
          <a:spcPts val="1000"/>
        </a:spcBef>
        <a:buClr>
          <a:schemeClr val="accent6"/>
        </a:buClr>
        <a:buFont typeface="Courier New" panose="02070309020205020404" pitchFamily="49" charset="0"/>
        <a:buChar char="o"/>
        <a:defRPr sz="28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1pPr>
      <a:lvl2pPr marL="685800" indent="-347472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Courier New" panose="02070309020205020404" pitchFamily="49" charset="0"/>
        <a:buChar char="o"/>
        <a:defRPr sz="24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2pPr>
      <a:lvl3pPr marL="1143000" indent="-347472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Courier New" panose="02070309020205020404" pitchFamily="49" charset="0"/>
        <a:buChar char="o"/>
        <a:defRPr sz="20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3pPr>
      <a:lvl4pPr marL="1600200" indent="-347472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Courier New" panose="02070309020205020404" pitchFamily="49" charset="0"/>
        <a:buChar char="o"/>
        <a:defRPr sz="18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4pPr>
      <a:lvl5pPr marL="2057400" indent="-347472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Courier New" panose="02070309020205020404" pitchFamily="49" charset="0"/>
        <a:buChar char="o"/>
        <a:defRPr sz="18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3.png"/><Relationship Id="rId2" Type="http://schemas.openxmlformats.org/officeDocument/2006/relationships/audio" Target="../media/media7.m4a"/><Relationship Id="rId1" Type="http://schemas.microsoft.com/office/2007/relationships/media" Target="../media/media7.m4a"/><Relationship Id="rId6" Type="http://schemas.openxmlformats.org/officeDocument/2006/relationships/image" Target="../media/image5.png"/><Relationship Id="rId5" Type="http://schemas.openxmlformats.org/officeDocument/2006/relationships/customXml" Target="../ink/ink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audio" Target="../media/media8.m4a"/><Relationship Id="rId1" Type="http://schemas.microsoft.com/office/2007/relationships/media" Target="../media/media8.m4a"/><Relationship Id="rId6" Type="http://schemas.openxmlformats.org/officeDocument/2006/relationships/image" Target="../media/image3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audio" Target="../media/media9.m4a"/><Relationship Id="rId1" Type="http://schemas.microsoft.com/office/2007/relationships/media" Target="../media/media9.m4a"/><Relationship Id="rId6" Type="http://schemas.openxmlformats.org/officeDocument/2006/relationships/image" Target="../media/image3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audio" Target="../media/media10.m4a"/><Relationship Id="rId1" Type="http://schemas.microsoft.com/office/2007/relationships/media" Target="../media/media10.m4a"/><Relationship Id="rId5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audio" Target="../media/media11.m4a"/><Relationship Id="rId1" Type="http://schemas.microsoft.com/office/2007/relationships/media" Target="../media/media11.m4a"/><Relationship Id="rId5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audio" Target="../media/media12.m4a"/><Relationship Id="rId1" Type="http://schemas.microsoft.com/office/2007/relationships/media" Target="../media/media12.m4a"/><Relationship Id="rId5" Type="http://schemas.openxmlformats.org/officeDocument/2006/relationships/image" Target="../media/image3.png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audio" Target="../media/media13.m4a"/><Relationship Id="rId1" Type="http://schemas.microsoft.com/office/2007/relationships/media" Target="../media/media13.m4a"/><Relationship Id="rId5" Type="http://schemas.openxmlformats.org/officeDocument/2006/relationships/image" Target="../media/image3.png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audio" Target="../media/media14.m4a"/><Relationship Id="rId1" Type="http://schemas.microsoft.com/office/2007/relationships/media" Target="../media/media14.m4a"/><Relationship Id="rId5" Type="http://schemas.openxmlformats.org/officeDocument/2006/relationships/image" Target="../media/image3.png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audio" Target="../media/media15.m4a"/><Relationship Id="rId1" Type="http://schemas.microsoft.com/office/2007/relationships/media" Target="../media/media15.m4a"/><Relationship Id="rId5" Type="http://schemas.openxmlformats.org/officeDocument/2006/relationships/image" Target="../media/image3.png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audio" Target="../media/media16.m4a"/><Relationship Id="rId1" Type="http://schemas.microsoft.com/office/2007/relationships/media" Target="../media/media16.m4a"/><Relationship Id="rId5" Type="http://schemas.openxmlformats.org/officeDocument/2006/relationships/image" Target="../media/image3.png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audio" Target="../media/media17.m4a"/><Relationship Id="rId1" Type="http://schemas.microsoft.com/office/2007/relationships/media" Target="../media/media17.m4a"/><Relationship Id="rId6" Type="http://schemas.openxmlformats.org/officeDocument/2006/relationships/image" Target="../media/image3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audio" Target="../media/media18.m4a"/><Relationship Id="rId1" Type="http://schemas.microsoft.com/office/2007/relationships/media" Target="../media/media18.m4a"/><Relationship Id="rId5" Type="http://schemas.openxmlformats.org/officeDocument/2006/relationships/image" Target="../media/image3.png"/><Relationship Id="rId4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audio" Target="../media/media19.m4a"/><Relationship Id="rId1" Type="http://schemas.microsoft.com/office/2007/relationships/media" Target="../media/media19.m4a"/><Relationship Id="rId5" Type="http://schemas.openxmlformats.org/officeDocument/2006/relationships/image" Target="../media/image3.png"/><Relationship Id="rId4" Type="http://schemas.openxmlformats.org/officeDocument/2006/relationships/image" Target="../media/image1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audio" Target="../media/media20.m4a"/><Relationship Id="rId1" Type="http://schemas.microsoft.com/office/2007/relationships/media" Target="../media/media20.m4a"/><Relationship Id="rId5" Type="http://schemas.openxmlformats.org/officeDocument/2006/relationships/image" Target="../media/image3.png"/><Relationship Id="rId4" Type="http://schemas.openxmlformats.org/officeDocument/2006/relationships/image" Target="../media/image1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audio" Target="../media/media21.m4a"/><Relationship Id="rId1" Type="http://schemas.microsoft.com/office/2007/relationships/media" Target="../media/media21.m4a"/><Relationship Id="rId5" Type="http://schemas.openxmlformats.org/officeDocument/2006/relationships/image" Target="../media/image3.png"/><Relationship Id="rId4" Type="http://schemas.openxmlformats.org/officeDocument/2006/relationships/image" Target="../media/image1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audio" Target="../media/media22.m4a"/><Relationship Id="rId1" Type="http://schemas.microsoft.com/office/2007/relationships/media" Target="../media/media22.m4a"/><Relationship Id="rId5" Type="http://schemas.openxmlformats.org/officeDocument/2006/relationships/image" Target="../media/image3.png"/><Relationship Id="rId4" Type="http://schemas.openxmlformats.org/officeDocument/2006/relationships/image" Target="../media/image1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audio" Target="../media/media23.m4a"/><Relationship Id="rId1" Type="http://schemas.microsoft.com/office/2007/relationships/media" Target="../media/media23.m4a"/><Relationship Id="rId5" Type="http://schemas.openxmlformats.org/officeDocument/2006/relationships/image" Target="../media/image3.png"/><Relationship Id="rId4" Type="http://schemas.openxmlformats.org/officeDocument/2006/relationships/image" Target="../media/image2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audio" Target="../media/media24.m4a"/><Relationship Id="rId1" Type="http://schemas.microsoft.com/office/2007/relationships/media" Target="../media/media24.m4a"/><Relationship Id="rId5" Type="http://schemas.openxmlformats.org/officeDocument/2006/relationships/image" Target="../media/image3.png"/><Relationship Id="rId4" Type="http://schemas.openxmlformats.org/officeDocument/2006/relationships/image" Target="../media/image2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audio" Target="../media/media25.m4a"/><Relationship Id="rId1" Type="http://schemas.microsoft.com/office/2007/relationships/media" Target="../media/media25.m4a"/><Relationship Id="rId5" Type="http://schemas.openxmlformats.org/officeDocument/2006/relationships/image" Target="../media/image3.png"/><Relationship Id="rId4" Type="http://schemas.openxmlformats.org/officeDocument/2006/relationships/image" Target="../media/image2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audio" Target="../media/media26.m4a"/><Relationship Id="rId1" Type="http://schemas.microsoft.com/office/2007/relationships/media" Target="../media/media26.m4a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audio" Target="../media/media27.m4a"/><Relationship Id="rId1" Type="http://schemas.microsoft.com/office/2007/relationships/media" Target="../media/media27.m4a"/><Relationship Id="rId5" Type="http://schemas.openxmlformats.org/officeDocument/2006/relationships/image" Target="../media/image3.png"/><Relationship Id="rId4" Type="http://schemas.openxmlformats.org/officeDocument/2006/relationships/image" Target="../media/image23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70DB4-0446-EF22-E8E0-3A5B83923A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4093" y="2714566"/>
            <a:ext cx="11497235" cy="1761029"/>
          </a:xfrm>
        </p:spPr>
        <p:txBody>
          <a:bodyPr/>
          <a:lstStyle/>
          <a:p>
            <a:r>
              <a:rPr lang="en-US" sz="4000" b="1" spc="300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FEATURE EXTRACTION AND </a:t>
            </a:r>
            <a:r>
              <a:rPr lang="en-US" sz="4000" b="1" spc="30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PRICE </a:t>
            </a:r>
            <a:r>
              <a:rPr lang="en-US" sz="4000" spc="30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PREDICTION for</a:t>
            </a:r>
            <a:r>
              <a:rPr lang="en-US" sz="4000" b="1" spc="30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 </a:t>
            </a:r>
            <a:r>
              <a:rPr lang="en-US" sz="4000" b="1" spc="300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MOBILE PHONES</a:t>
            </a:r>
            <a:br>
              <a:rPr lang="en-US" sz="4000" spc="300" dirty="0"/>
            </a:br>
            <a:endParaRPr lang="en-US" sz="4000" spc="3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6329B1-2D04-0F3A-1081-C5117D8CE1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86199" y="4615564"/>
            <a:ext cx="4693024" cy="467713"/>
          </a:xfrm>
        </p:spPr>
        <p:txBody>
          <a:bodyPr/>
          <a:lstStyle/>
          <a:p>
            <a:r>
              <a:rPr lang="en-US" dirty="0"/>
              <a:t>By Mr. Ajay Kumar Sahu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8F43CE8-9046-3E7A-534C-CF9FE42ADC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660"/>
            <a:ext cx="2761450" cy="91266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C5B2B12-5E4F-A6A0-F868-94EEC3B72A8D}"/>
              </a:ext>
            </a:extLst>
          </p:cNvPr>
          <p:cNvSpPr txBox="1"/>
          <p:nvPr/>
        </p:nvSpPr>
        <p:spPr>
          <a:xfrm>
            <a:off x="1963271" y="820271"/>
            <a:ext cx="874058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itannic Bold" panose="020B0903060703020204" pitchFamily="34" charset="0"/>
                <a:ea typeface="Barlow Bold" pitchFamily="34" charset="-122"/>
                <a:cs typeface="Barlow Bold" pitchFamily="34" charset="-120"/>
              </a:rPr>
              <a:t>A PROJECT BY</a:t>
            </a:r>
          </a:p>
          <a:p>
            <a:pPr algn="ctr"/>
            <a:r>
              <a:rPr lang="en-US" sz="5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itannic Bold" panose="020B0903060703020204" pitchFamily="34" charset="0"/>
                <a:ea typeface="Barlow Bold" pitchFamily="34" charset="-122"/>
                <a:cs typeface="Barlow Bold" pitchFamily="34" charset="-120"/>
              </a:rPr>
              <a:t>NEXTHIKE IT SOLUTIONS</a:t>
            </a:r>
            <a:endParaRPr lang="en-US" sz="5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ritannic Bold" panose="020B09030607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349111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F7E09-6A9E-9FCC-7867-895F21ABE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2815" y="54327"/>
            <a:ext cx="6422136" cy="1069848"/>
          </a:xfrm>
        </p:spPr>
        <p:txBody>
          <a:bodyPr>
            <a:normAutofit/>
          </a:bodyPr>
          <a:lstStyle/>
          <a:p>
            <a:r>
              <a:rPr lang="en-IN" sz="4400" b="1" kern="0" spc="-94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itannic Bold" panose="020B0903060703020204" pitchFamily="34" charset="0"/>
                <a:ea typeface="Petrona Bold" pitchFamily="34" charset="-122"/>
              </a:rPr>
              <a:t>PROBLEM STATEMENT</a:t>
            </a:r>
            <a:endParaRPr lang="en-US" sz="4400" dirty="0">
              <a:solidFill>
                <a:srgbClr val="FFC000"/>
              </a:solidFill>
              <a:latin typeface="Britannic Bold" panose="020B0903060703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57728F-9EA1-A705-8E4D-B7823E4F4C2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D0AE42-75AF-229C-2692-C10ADA4FFA8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 err="1"/>
              <a:t>NextHikes</a:t>
            </a:r>
            <a:r>
              <a:rPr lang="en-US" dirty="0"/>
              <a:t> IT Solutions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19FFD3-BB8C-8FB2-E379-C55AC15EC38B}"/>
              </a:ext>
            </a:extLst>
          </p:cNvPr>
          <p:cNvSpPr txBox="1"/>
          <p:nvPr/>
        </p:nvSpPr>
        <p:spPr>
          <a:xfrm>
            <a:off x="850392" y="1481328"/>
            <a:ext cx="5913479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 b="1" i="0" dirty="0">
                <a:solidFill>
                  <a:srgbClr val="F8FAFF"/>
                </a:solidFill>
                <a:effectLst/>
                <a:latin typeface="DeepSeek-CJK-patch"/>
              </a:rPr>
              <a:t>Objective</a:t>
            </a:r>
            <a:r>
              <a:rPr lang="en-US" sz="2000" b="1" i="0" dirty="0">
                <a:solidFill>
                  <a:srgbClr val="F8FAFF"/>
                </a:solidFill>
                <a:effectLst/>
                <a:latin typeface="DeepSeek-CJK-patch"/>
              </a:rPr>
              <a:t>:</a:t>
            </a:r>
            <a:r>
              <a:rPr lang="en-US" sz="2000" b="0" i="0" dirty="0">
                <a:solidFill>
                  <a:srgbClr val="F8FAFF"/>
                </a:solidFill>
                <a:effectLst/>
                <a:latin typeface="DeepSeek-CJK-patch"/>
              </a:rPr>
              <a:t> 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F8FAFF"/>
                </a:solidFill>
                <a:effectLst/>
                <a:latin typeface="DeepSeek-CJK-patch"/>
              </a:rPr>
              <a:t>T</a:t>
            </a:r>
            <a:r>
              <a:rPr lang="en-US" sz="2000" dirty="0">
                <a:solidFill>
                  <a:srgbClr val="F8FAFF"/>
                </a:solidFill>
                <a:latin typeface="DeepSeek-CJK-patch"/>
              </a:rPr>
              <a:t>o analyze mobile phone specifications and their impact on Price</a:t>
            </a:r>
            <a:r>
              <a:rPr lang="en-US" sz="2000" b="0" i="0" dirty="0">
                <a:solidFill>
                  <a:srgbClr val="F8FAFF"/>
                </a:solidFill>
                <a:effectLst/>
                <a:latin typeface="DeepSeek-CJK-patch"/>
              </a:rPr>
              <a:t>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8FAFF"/>
                </a:solidFill>
                <a:latin typeface="DeepSeek-CJK-patch"/>
              </a:rPr>
              <a:t>To perform Exploratory Data Analysis (EDA) for better understanding.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F8FAFF"/>
                </a:solidFill>
                <a:effectLst/>
                <a:latin typeface="DeepSeek-CJK-patch"/>
              </a:rPr>
              <a:t>To identify important features affecting mobile price.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8FAFF"/>
                </a:solidFill>
                <a:latin typeface="DeepSeek-CJK-patch"/>
              </a:rPr>
              <a:t>To apply feature engineering and encoding techniques.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8FAFF"/>
                </a:solidFill>
                <a:latin typeface="DeepSeek-CJK-patch"/>
              </a:rPr>
              <a:t>To build machine learning models for price prediction.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8FAFF"/>
                </a:solidFill>
                <a:latin typeface="DeepSeek-CJK-patch"/>
              </a:rPr>
              <a:t>To evaluate model performance using suitable metrics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C629277-F4FB-CD6F-2F4F-9654A69A3B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0" y="0"/>
            <a:ext cx="4572000" cy="6858000"/>
          </a:xfrm>
          <a:prstGeom prst="rect">
            <a:avLst/>
          </a:prstGeom>
        </p:spPr>
      </p:pic>
      <p:pic>
        <p:nvPicPr>
          <p:cNvPr id="9" name="Audio 8">
            <a:hlinkClick r:id="" action="ppaction://media"/>
            <a:extLst>
              <a:ext uri="{FF2B5EF4-FFF2-40B4-BE49-F238E27FC236}">
                <a16:creationId xmlns:a16="http://schemas.microsoft.com/office/drawing/2014/main" id="{24354235-AF85-0043-8602-5A6817BF7D7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262704" t="-125896" r="-262704" b="-125896"/>
          <a:stretch>
            <a:fillRect/>
          </a:stretch>
        </p:blipFill>
        <p:spPr>
          <a:xfrm>
            <a:off x="9144000" y="5143500"/>
            <a:ext cx="304800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802708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27660">
        <p15:prstTrans prst="pageCurlDouble"/>
      </p:transition>
    </mc:Choice>
    <mc:Fallback xmlns="">
      <p:transition spd="slow" advTm="2766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D4A163-2D0B-DEAD-2454-BC1161334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6E6FC-485C-28DB-159A-93FCC93BE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2815" y="54327"/>
            <a:ext cx="6422136" cy="1069848"/>
          </a:xfrm>
        </p:spPr>
        <p:txBody>
          <a:bodyPr>
            <a:normAutofit/>
          </a:bodyPr>
          <a:lstStyle/>
          <a:p>
            <a:r>
              <a:rPr lang="en-IN" sz="4400" b="1" kern="0" spc="-94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itannic Bold" panose="020B0903060703020204" pitchFamily="34" charset="0"/>
                <a:ea typeface="Petrona Bold" pitchFamily="34" charset="-122"/>
              </a:rPr>
              <a:t>PROBLEM STATEMENT</a:t>
            </a:r>
            <a:endParaRPr lang="en-US" sz="4400" dirty="0">
              <a:solidFill>
                <a:srgbClr val="FFC000"/>
              </a:solidFill>
              <a:latin typeface="Britannic Bold" panose="020B0903060703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0DCEF3-FB2B-0E4F-CCC1-C6974722B61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84739A-2FC6-C015-0CC0-BE1C830A2A6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 err="1"/>
              <a:t>NextHikes</a:t>
            </a:r>
            <a:r>
              <a:rPr lang="en-US" dirty="0"/>
              <a:t> IT Solutions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37F8E2-346F-3820-4EA9-79D63221968C}"/>
              </a:ext>
            </a:extLst>
          </p:cNvPr>
          <p:cNvSpPr txBox="1"/>
          <p:nvPr/>
        </p:nvSpPr>
        <p:spPr>
          <a:xfrm>
            <a:off x="850392" y="1481328"/>
            <a:ext cx="5913479" cy="41165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lang="en-US" sz="2400" b="1" dirty="0">
                <a:solidFill>
                  <a:srgbClr val="F8FAFF"/>
                </a:solidFill>
                <a:latin typeface="DeepSeek-CJK-patch"/>
              </a:rPr>
              <a:t>Challenges</a:t>
            </a:r>
            <a:r>
              <a:rPr lang="en-US" b="1" i="0" dirty="0">
                <a:solidFill>
                  <a:srgbClr val="F8FAFF"/>
                </a:solidFill>
                <a:effectLst/>
                <a:latin typeface="DeepSeek-CJK-patch"/>
              </a:rPr>
              <a:t>:</a:t>
            </a:r>
            <a:endParaRPr lang="en-US" b="0" i="0" dirty="0">
              <a:solidFill>
                <a:srgbClr val="F8FAFF"/>
              </a:solidFill>
              <a:effectLst/>
              <a:latin typeface="DeepSeek-CJK-patch"/>
            </a:endParaRP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8FAFF"/>
                </a:solidFill>
                <a:latin typeface="DeepSeek-CJK-patch"/>
              </a:rPr>
              <a:t>Understanding dataset structure and feature types.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8FAFF"/>
                </a:solidFill>
                <a:latin typeface="DeepSeek-CJK-patch"/>
              </a:rPr>
              <a:t>Handling categorical variables for machine learning models.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8FAFF"/>
                </a:solidFill>
                <a:latin typeface="DeepSeek-CJK-patch"/>
              </a:rPr>
              <a:t>Deciding whether to remove or keep outliers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8FAFF"/>
                </a:solidFill>
                <a:latin typeface="DeepSeek-CJK-patch"/>
              </a:rPr>
              <a:t>Selecting the right machine learning model.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8FAFF"/>
                </a:solidFill>
                <a:latin typeface="DeepSeek-CJK-patch"/>
              </a:rPr>
              <a:t>Interpreting model performance metrics (R2 score, Mean Absolute Error (MAE), Mean Squared Error (MSE).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8FAFF"/>
                </a:solidFill>
                <a:latin typeface="DeepSeek-CJK-patch"/>
              </a:rPr>
              <a:t>Identifying the most important feature affecting price.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1C4EEF3-278B-4B7F-2F1E-EB8BC23346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0" y="0"/>
            <a:ext cx="4572000" cy="6858000"/>
          </a:xfrm>
          <a:prstGeom prst="rect">
            <a:avLst/>
          </a:prstGeom>
        </p:spPr>
      </p:pic>
      <p:pic>
        <p:nvPicPr>
          <p:cNvPr id="12" name="Audio 11">
            <a:hlinkClick r:id="" action="ppaction://media"/>
            <a:extLst>
              <a:ext uri="{FF2B5EF4-FFF2-40B4-BE49-F238E27FC236}">
                <a16:creationId xmlns:a16="http://schemas.microsoft.com/office/drawing/2014/main" id="{F89EEFFD-0938-12AF-DC64-38F16AD30DD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262704" t="-125896" r="-262704" b="-125896"/>
          <a:stretch>
            <a:fillRect/>
          </a:stretch>
        </p:blipFill>
        <p:spPr>
          <a:xfrm>
            <a:off x="9144000" y="5143500"/>
            <a:ext cx="304800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253406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37545">
        <p15:prstTrans prst="pageCurlDouble"/>
      </p:transition>
    </mc:Choice>
    <mc:Fallback xmlns="">
      <p:transition spd="slow" advTm="37545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2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CB10A5-91F9-9B66-009C-932059BA3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AB0F7-72A1-A892-798A-53BF06EF2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2815" y="54327"/>
            <a:ext cx="6422136" cy="1069848"/>
          </a:xfrm>
        </p:spPr>
        <p:txBody>
          <a:bodyPr>
            <a:normAutofit/>
          </a:bodyPr>
          <a:lstStyle/>
          <a:p>
            <a:r>
              <a:rPr lang="en-IN" sz="4400" b="1" kern="0" spc="-94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itannic Bold" panose="020B0903060703020204" pitchFamily="34" charset="0"/>
                <a:ea typeface="Petrona Bold" pitchFamily="34" charset="-122"/>
              </a:rPr>
              <a:t>PROBLEM STATEMENT</a:t>
            </a:r>
            <a:endParaRPr lang="en-US" sz="4400" dirty="0">
              <a:solidFill>
                <a:srgbClr val="FFC000"/>
              </a:solidFill>
              <a:latin typeface="Britannic Bold" panose="020B0903060703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A3C103-7EF9-86EA-BD58-DD5E8688295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26F41D-7DF5-B405-E11A-925A7D5C1C5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 err="1"/>
              <a:t>NextHikes</a:t>
            </a:r>
            <a:r>
              <a:rPr lang="en-US" dirty="0"/>
              <a:t> IT Solutions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5F3C13-ADFF-4C5B-3EE7-E98D5A1C1CBA}"/>
              </a:ext>
            </a:extLst>
          </p:cNvPr>
          <p:cNvSpPr txBox="1"/>
          <p:nvPr/>
        </p:nvSpPr>
        <p:spPr>
          <a:xfrm>
            <a:off x="850392" y="1481328"/>
            <a:ext cx="591347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8FAFF"/>
                </a:solidFill>
                <a:latin typeface="DeepSeek-CJK-patch"/>
              </a:rPr>
              <a:t>Business Impact: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8FAFF"/>
                </a:solidFill>
                <a:latin typeface="DeepSeek-CJK-patch"/>
              </a:rPr>
              <a:t>Helps companies predict mobile prices accurately.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8FAFF"/>
                </a:solidFill>
                <a:latin typeface="DeepSeek-CJK-patch"/>
              </a:rPr>
              <a:t>Identifies key features influencing pricing.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8FAFF"/>
                </a:solidFill>
                <a:latin typeface="DeepSeek-CJK-patch"/>
              </a:rPr>
              <a:t>Supports data-driven decision making.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8FAFF"/>
                </a:solidFill>
                <a:latin typeface="DeepSeek-CJK-patch"/>
              </a:rPr>
              <a:t>Assists in product design and feature selection.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8FAFF"/>
                </a:solidFill>
                <a:latin typeface="DeepSeek-CJK-patch"/>
              </a:rPr>
              <a:t>Improves pricing strategy and market competitiveness.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2BEB1CD-EAA6-FAA5-54B6-7FA56A1164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0" y="0"/>
            <a:ext cx="4572000" cy="6858000"/>
          </a:xfrm>
          <a:prstGeom prst="rect">
            <a:avLst/>
          </a:prstGeom>
        </p:spPr>
      </p:pic>
      <p:pic>
        <p:nvPicPr>
          <p:cNvPr id="6" name="Audio 5">
            <a:hlinkClick r:id="" action="ppaction://media"/>
            <a:extLst>
              <a:ext uri="{FF2B5EF4-FFF2-40B4-BE49-F238E27FC236}">
                <a16:creationId xmlns:a16="http://schemas.microsoft.com/office/drawing/2014/main" id="{2B1D4C73-BD70-6889-A996-63DF37E8468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262704" t="-125896" r="-262704" b="-125896"/>
          <a:stretch>
            <a:fillRect/>
          </a:stretch>
        </p:blipFill>
        <p:spPr>
          <a:xfrm>
            <a:off x="9144000" y="5143500"/>
            <a:ext cx="304800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932662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27355">
        <p15:prstTrans prst="pageCurlDouble"/>
      </p:transition>
    </mc:Choice>
    <mc:Fallback xmlns="">
      <p:transition spd="slow" advTm="27355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5D833B4-D24B-CA13-F419-07F0410C550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E945E4-6E0C-720A-9AA3-A799C89BDBB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NextHike IT Solutions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4C5339D-850A-81C2-0165-D92917D80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0006" y="11837"/>
            <a:ext cx="6854773" cy="1069848"/>
          </a:xfrm>
        </p:spPr>
        <p:txBody>
          <a:bodyPr/>
          <a:lstStyle/>
          <a:p>
            <a:pPr algn="ctr"/>
            <a:r>
              <a:rPr lang="en-US" sz="4400" kern="0" spc="-94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itannic Bold" panose="020B0903060703020204" pitchFamily="34" charset="0"/>
                <a:ea typeface="Petrona Bold" pitchFamily="34" charset="-122"/>
              </a:rPr>
              <a:t>Data description</a:t>
            </a:r>
            <a:endParaRPr lang="en-IN" sz="4400" kern="0" spc="-94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ritannic Bold" panose="020B0903060703020204" pitchFamily="34" charset="0"/>
              <a:ea typeface="Petrona Bold" pitchFamily="34" charset="-122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C0A301F-8ED5-1EEB-6366-47EED555DC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4572000" cy="6858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312BD6B-D808-0DA8-5088-19649D945F2B}"/>
              </a:ext>
            </a:extLst>
          </p:cNvPr>
          <p:cNvSpPr txBox="1"/>
          <p:nvPr/>
        </p:nvSpPr>
        <p:spPr>
          <a:xfrm>
            <a:off x="5140006" y="1438841"/>
            <a:ext cx="6589059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b="1" dirty="0">
                <a:solidFill>
                  <a:srgbClr val="F8FAFF"/>
                </a:solidFill>
                <a:latin typeface="DeepSeek-CJK-patch"/>
              </a:rPr>
              <a:t>The dataset contains mobile phone specifications such as</a:t>
            </a:r>
            <a:r>
              <a:rPr lang="en-IN" b="1" i="0" dirty="0">
                <a:solidFill>
                  <a:srgbClr val="F8FAFF"/>
                </a:solidFill>
                <a:effectLst/>
                <a:latin typeface="DeepSeek-CJK-patch"/>
              </a:rPr>
              <a:t>:</a:t>
            </a:r>
            <a:endParaRPr lang="en-IN" dirty="0">
              <a:solidFill>
                <a:srgbClr val="F8FAFF"/>
              </a:solidFill>
              <a:latin typeface="DeepSeek-CJK-patch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F8FAFF"/>
                </a:solidFill>
                <a:latin typeface="DeepSeek-CJK-patch"/>
              </a:rPr>
              <a:t>Model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F8FAFF"/>
                </a:solidFill>
                <a:latin typeface="DeepSeek-CJK-patch"/>
              </a:rPr>
              <a:t>Colour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F8FAFF"/>
                </a:solidFill>
                <a:latin typeface="DeepSeek-CJK-patch"/>
              </a:rPr>
              <a:t>Memory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F8FAFF"/>
                </a:solidFill>
                <a:latin typeface="DeepSeek-CJK-patch"/>
              </a:rPr>
              <a:t>RAM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F8FAFF"/>
                </a:solidFill>
                <a:latin typeface="DeepSeek-CJK-patch"/>
              </a:rPr>
              <a:t>Battery Capacity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F8FAFF"/>
                </a:solidFill>
                <a:latin typeface="DeepSeek-CJK-patch"/>
              </a:rPr>
              <a:t>Rear Camera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F8FAFF"/>
                </a:solidFill>
                <a:latin typeface="DeepSeek-CJK-patch"/>
              </a:rPr>
              <a:t>Front Camera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F8FAFF"/>
                </a:solidFill>
                <a:latin typeface="DeepSeek-CJK-patch"/>
              </a:rPr>
              <a:t>AI Lens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F8FAFF"/>
                </a:solidFill>
                <a:latin typeface="DeepSeek-CJK-patch"/>
              </a:rPr>
              <a:t>Processor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F8FAFF"/>
                </a:solidFill>
                <a:latin typeface="DeepSeek-CJK-patch"/>
              </a:rPr>
              <a:t>Mobile Height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F8FAFF"/>
                </a:solidFill>
                <a:latin typeface="DeepSeek-CJK-patch"/>
              </a:rPr>
              <a:t>Target Variable: Prize (Mobile Price)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F8FAFF"/>
                </a:solidFill>
                <a:latin typeface="DeepSeek-CJK-patch"/>
              </a:rPr>
              <a:t>Dataset includes both numerical &amp; categorical features</a:t>
            </a: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4D64658B-89AF-2A16-3A0F-CB4FDE7DB0B6}"/>
              </a:ext>
            </a:extLst>
          </p:cNvPr>
          <p:cNvSpPr txBox="1">
            <a:spLocks/>
          </p:cNvSpPr>
          <p:nvPr/>
        </p:nvSpPr>
        <p:spPr>
          <a:xfrm>
            <a:off x="618744" y="6342888"/>
            <a:ext cx="2331720" cy="2743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b="0" i="0" kern="1200">
                <a:solidFill>
                  <a:schemeClr val="bg1"/>
                </a:solidFill>
                <a:latin typeface="+mn-lt"/>
                <a:ea typeface="+mn-ea"/>
                <a:cs typeface="Segoe UI Light" panose="020B0502040204020203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NextHikes</a:t>
            </a:r>
            <a:r>
              <a:rPr lang="en-US" dirty="0"/>
              <a:t> IT Solutions</a:t>
            </a:r>
          </a:p>
        </p:txBody>
      </p:sp>
      <p:pic>
        <p:nvPicPr>
          <p:cNvPr id="13" name="Audio 12">
            <a:hlinkClick r:id="" action="ppaction://media"/>
            <a:extLst>
              <a:ext uri="{FF2B5EF4-FFF2-40B4-BE49-F238E27FC236}">
                <a16:creationId xmlns:a16="http://schemas.microsoft.com/office/drawing/2014/main" id="{6C0C6F94-3032-940F-8213-10F34C2F773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262704" t="-125896" r="-262704" b="-125896"/>
          <a:stretch>
            <a:fillRect/>
          </a:stretch>
        </p:blipFill>
        <p:spPr>
          <a:xfrm>
            <a:off x="9144000" y="5143500"/>
            <a:ext cx="304800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09252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31432">
        <p15:prstTrans prst="pageCurlDouble"/>
      </p:transition>
    </mc:Choice>
    <mc:Fallback xmlns="">
      <p:transition spd="slow" advTm="31432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3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E1E81D-B019-6EC9-9C08-5D1B863D3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1E7730D-A36F-1D12-EA2A-E37A3A285C8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3CB672-8A07-DE32-6D3F-55F50596FFA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NextHike IT Solutions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8760F9C-59DD-B1D5-F41F-0867B83D6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0006" y="11837"/>
            <a:ext cx="6854773" cy="1069848"/>
          </a:xfrm>
        </p:spPr>
        <p:txBody>
          <a:bodyPr/>
          <a:lstStyle/>
          <a:p>
            <a:pPr algn="ctr"/>
            <a:r>
              <a:rPr lang="en-US" sz="4400" kern="0" spc="-94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itannic Bold" panose="020B0903060703020204" pitchFamily="34" charset="0"/>
                <a:ea typeface="Petrona Bold" pitchFamily="34" charset="-122"/>
              </a:rPr>
              <a:t>DATA EXPLORATION</a:t>
            </a:r>
            <a:endParaRPr lang="en-IN" sz="4400" kern="0" spc="-94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ritannic Bold" panose="020B0903060703020204" pitchFamily="34" charset="0"/>
              <a:ea typeface="Petrona Bold" pitchFamily="34" charset="-122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05DE03A-8336-080B-223E-4AA2DB81DF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4572000" cy="6858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9DE1938-62E2-EEE8-EA8B-35482ADD014D}"/>
              </a:ext>
            </a:extLst>
          </p:cNvPr>
          <p:cNvSpPr txBox="1"/>
          <p:nvPr/>
        </p:nvSpPr>
        <p:spPr>
          <a:xfrm>
            <a:off x="5140006" y="1438841"/>
            <a:ext cx="6589059" cy="42396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b="1" dirty="0">
                <a:solidFill>
                  <a:srgbClr val="F8FAFF"/>
                </a:solidFill>
                <a:latin typeface="DeepSeek-CJK-patch"/>
              </a:rPr>
              <a:t>Loaded the dataset using Pandas: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 err="1">
                <a:solidFill>
                  <a:srgbClr val="F8FAFF"/>
                </a:solidFill>
                <a:latin typeface="DeepSeek-CJK-patch"/>
              </a:rPr>
              <a:t>pd.read_excel</a:t>
            </a:r>
            <a:endParaRPr lang="en-IN" sz="2000" dirty="0">
              <a:solidFill>
                <a:srgbClr val="F8FAFF"/>
              </a:solidFill>
              <a:latin typeface="DeepSeek-CJK-patch"/>
            </a:endParaRPr>
          </a:p>
          <a:p>
            <a:r>
              <a:rPr lang="en-IN" sz="2800" b="1" dirty="0">
                <a:solidFill>
                  <a:srgbClr val="F8FAFF"/>
                </a:solidFill>
                <a:latin typeface="DeepSeek-CJK-patch"/>
              </a:rPr>
              <a:t>Checked dataset structure using</a:t>
            </a:r>
            <a:r>
              <a:rPr lang="en-IN" sz="2400" b="1" dirty="0">
                <a:solidFill>
                  <a:srgbClr val="F8FAFF"/>
                </a:solidFill>
                <a:latin typeface="DeepSeek-CJK-patch"/>
              </a:rPr>
              <a:t>:</a:t>
            </a:r>
          </a:p>
          <a:p>
            <a:pPr marL="0" lvl="1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IN" sz="2000" dirty="0" err="1">
                <a:solidFill>
                  <a:srgbClr val="F8FAFF"/>
                </a:solidFill>
                <a:latin typeface="DeepSeek-CJK-patch"/>
              </a:rPr>
              <a:t>df.head</a:t>
            </a:r>
            <a:r>
              <a:rPr lang="en-IN" sz="2000" dirty="0">
                <a:solidFill>
                  <a:srgbClr val="F8FAFF"/>
                </a:solidFill>
                <a:latin typeface="DeepSeek-CJK-patch"/>
              </a:rPr>
              <a:t>()- </a:t>
            </a:r>
            <a:r>
              <a:rPr lang="en-US" sz="2000" dirty="0">
                <a:solidFill>
                  <a:srgbClr val="F8FAFF"/>
                </a:solidFill>
                <a:latin typeface="DeepSeek-CJK-patch"/>
              </a:rPr>
              <a:t>By default, it display first five rows and it will always display from the starting only</a:t>
            </a:r>
            <a:endParaRPr lang="en-IN" sz="2000" dirty="0">
              <a:solidFill>
                <a:srgbClr val="F8FAFF"/>
              </a:solidFill>
              <a:latin typeface="DeepSeek-CJK-patch"/>
            </a:endParaRPr>
          </a:p>
          <a:p>
            <a:pPr marL="0" lvl="1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F8FAFF"/>
                </a:solidFill>
                <a:latin typeface="DeepSeek-CJK-patch"/>
              </a:rPr>
              <a:t>df.info()- </a:t>
            </a:r>
            <a:r>
              <a:rPr lang="en-US" sz="2000" dirty="0">
                <a:solidFill>
                  <a:srgbClr val="F8FAFF"/>
                </a:solidFill>
                <a:latin typeface="DeepSeek-CJK-patch"/>
              </a:rPr>
              <a:t>It will give us the complete info of the data frame</a:t>
            </a:r>
            <a:r>
              <a:rPr lang="en-IN" sz="2000" dirty="0">
                <a:solidFill>
                  <a:srgbClr val="F8FAFF"/>
                </a:solidFill>
                <a:latin typeface="DeepSeek-CJK-patch"/>
              </a:rPr>
              <a:t>.</a:t>
            </a:r>
          </a:p>
          <a:p>
            <a:pPr marL="0" lvl="1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IN" sz="2000" dirty="0" err="1">
                <a:solidFill>
                  <a:srgbClr val="F8FAFF"/>
                </a:solidFill>
                <a:latin typeface="DeepSeek-CJK-patch"/>
              </a:rPr>
              <a:t>df.describe</a:t>
            </a:r>
            <a:r>
              <a:rPr lang="en-IN" sz="2000" dirty="0">
                <a:solidFill>
                  <a:srgbClr val="F8FAFF"/>
                </a:solidFill>
                <a:latin typeface="DeepSeek-CJK-patch"/>
              </a:rPr>
              <a:t>()- </a:t>
            </a:r>
            <a:r>
              <a:rPr lang="en-US" sz="2000" dirty="0">
                <a:solidFill>
                  <a:srgbClr val="F8FAFF"/>
                </a:solidFill>
                <a:latin typeface="DeepSeek-CJK-patch"/>
              </a:rPr>
              <a:t>It will give us the statistical info of the data frame.</a:t>
            </a:r>
            <a:endParaRPr lang="en-IN" sz="2000" dirty="0">
              <a:solidFill>
                <a:srgbClr val="F8FAFF"/>
              </a:solidFill>
              <a:latin typeface="DeepSeek-CJK-patch"/>
            </a:endParaRPr>
          </a:p>
          <a:p>
            <a:pPr marL="0" lvl="1">
              <a:spcBef>
                <a:spcPts val="300"/>
              </a:spcBef>
            </a:pPr>
            <a:endParaRPr lang="en-IN" sz="2000" dirty="0">
              <a:solidFill>
                <a:srgbClr val="F8FAFF"/>
              </a:solidFill>
              <a:latin typeface="DeepSeek-CJK-patch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IN" sz="2800" b="1" dirty="0">
                <a:solidFill>
                  <a:srgbClr val="F8FAFF"/>
                </a:solidFill>
                <a:latin typeface="DeepSeek-CJK-patch"/>
              </a:rPr>
              <a:t>Goal:</a:t>
            </a:r>
          </a:p>
          <a:p>
            <a:pPr marL="0" lvl="1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F8FAFF"/>
                </a:solidFill>
                <a:latin typeface="DeepSeek-CJK-patch"/>
              </a:rPr>
              <a:t>Understand features, data types, and dataset structure.</a:t>
            </a: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5050F1C7-5D96-F8CF-363C-DDF954A9B6C7}"/>
              </a:ext>
            </a:extLst>
          </p:cNvPr>
          <p:cNvSpPr txBox="1">
            <a:spLocks/>
          </p:cNvSpPr>
          <p:nvPr/>
        </p:nvSpPr>
        <p:spPr>
          <a:xfrm>
            <a:off x="618744" y="6342888"/>
            <a:ext cx="2331720" cy="2743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b="0" i="0" kern="1200">
                <a:solidFill>
                  <a:schemeClr val="bg1"/>
                </a:solidFill>
                <a:latin typeface="+mn-lt"/>
                <a:ea typeface="+mn-ea"/>
                <a:cs typeface="Segoe UI Light" panose="020B0502040204020203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NextHikes</a:t>
            </a:r>
            <a:r>
              <a:rPr lang="en-US" dirty="0"/>
              <a:t> IT Solutions</a:t>
            </a:r>
          </a:p>
        </p:txBody>
      </p:sp>
      <p:pic>
        <p:nvPicPr>
          <p:cNvPr id="11" name="Audio 10">
            <a:hlinkClick r:id="" action="ppaction://media"/>
            <a:extLst>
              <a:ext uri="{FF2B5EF4-FFF2-40B4-BE49-F238E27FC236}">
                <a16:creationId xmlns:a16="http://schemas.microsoft.com/office/drawing/2014/main" id="{C7C9DE2E-91CF-1359-B35D-BE963C29559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262704" t="-125896" r="-262704" b="-125896"/>
          <a:stretch>
            <a:fillRect/>
          </a:stretch>
        </p:blipFill>
        <p:spPr>
          <a:xfrm>
            <a:off x="9144000" y="5143500"/>
            <a:ext cx="304800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319863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30255">
        <p15:prstTrans prst="pageCurlDouble"/>
      </p:transition>
    </mc:Choice>
    <mc:Fallback xmlns="">
      <p:transition spd="slow" advTm="30255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86D5B9-D800-FC5D-564F-4DC958361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F8B62B9-38E6-196C-483B-FAD24B466E3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1FB7BD-2A69-5EF5-250C-0637CE25116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NextHike IT Solutions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31F62DC-7F15-7ED7-9440-841DB40D8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0006" y="11837"/>
            <a:ext cx="6854773" cy="1069848"/>
          </a:xfrm>
        </p:spPr>
        <p:txBody>
          <a:bodyPr/>
          <a:lstStyle/>
          <a:p>
            <a:pPr algn="ctr"/>
            <a:r>
              <a:rPr lang="en-US" sz="4400" kern="0" spc="-94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itannic Bold" panose="020B0903060703020204" pitchFamily="34" charset="0"/>
                <a:ea typeface="Petrona Bold" pitchFamily="34" charset="-122"/>
              </a:rPr>
              <a:t>MISSING VALUE CHECK</a:t>
            </a:r>
            <a:endParaRPr lang="en-IN" sz="4400" kern="0" spc="-94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ritannic Bold" panose="020B0903060703020204" pitchFamily="34" charset="0"/>
              <a:ea typeface="Petrona Bold" pitchFamily="34" charset="-122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7E5989E-2DB9-D165-0D8F-07DD6FD34D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4572000" cy="6858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53E77CB-CAA8-B056-9387-19027D9A9BDA}"/>
              </a:ext>
            </a:extLst>
          </p:cNvPr>
          <p:cNvSpPr txBox="1"/>
          <p:nvPr/>
        </p:nvSpPr>
        <p:spPr>
          <a:xfrm>
            <a:off x="5140006" y="1438841"/>
            <a:ext cx="6589059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b="1" dirty="0">
                <a:solidFill>
                  <a:srgbClr val="F8FAFF"/>
                </a:solidFill>
                <a:latin typeface="DeepSeek-CJK-patch"/>
              </a:rPr>
              <a:t>Checked whether dataset contains missing values: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 err="1">
                <a:solidFill>
                  <a:srgbClr val="F8FAFF"/>
                </a:solidFill>
                <a:latin typeface="DeepSeek-CJK-patch"/>
              </a:rPr>
              <a:t>df.isna</a:t>
            </a:r>
            <a:r>
              <a:rPr lang="en-IN" sz="2000" dirty="0">
                <a:solidFill>
                  <a:srgbClr val="F8FAFF"/>
                </a:solidFill>
                <a:latin typeface="DeepSeek-CJK-patch"/>
              </a:rPr>
              <a:t>().sum()- It displays column wise count of missing values</a:t>
            </a:r>
          </a:p>
          <a:p>
            <a:endParaRPr lang="en-IN" sz="2000" dirty="0">
              <a:solidFill>
                <a:srgbClr val="F8FAFF"/>
              </a:solidFill>
              <a:latin typeface="DeepSeek-CJK-patch"/>
            </a:endParaRPr>
          </a:p>
          <a:p>
            <a:r>
              <a:rPr lang="en-IN" sz="2800" b="1" dirty="0">
                <a:solidFill>
                  <a:srgbClr val="F8FAFF"/>
                </a:solidFill>
                <a:latin typeface="DeepSeek-CJK-patch"/>
              </a:rPr>
              <a:t>Result</a:t>
            </a:r>
            <a:r>
              <a:rPr lang="en-IN" sz="2400" b="1" dirty="0">
                <a:solidFill>
                  <a:srgbClr val="F8FAFF"/>
                </a:solidFill>
                <a:latin typeface="DeepSeek-CJK-patch"/>
              </a:rPr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F8FAFF"/>
                </a:solidFill>
                <a:latin typeface="DeepSeek-CJK-patch"/>
              </a:rPr>
              <a:t>No missing values found, so no imputation was required.</a:t>
            </a: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0BB8CA3F-8791-A620-13BC-3B758F6C33FA}"/>
              </a:ext>
            </a:extLst>
          </p:cNvPr>
          <p:cNvSpPr txBox="1">
            <a:spLocks/>
          </p:cNvSpPr>
          <p:nvPr/>
        </p:nvSpPr>
        <p:spPr>
          <a:xfrm>
            <a:off x="618744" y="6342888"/>
            <a:ext cx="2331720" cy="2743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b="0" i="0" kern="1200">
                <a:solidFill>
                  <a:schemeClr val="bg1"/>
                </a:solidFill>
                <a:latin typeface="+mn-lt"/>
                <a:ea typeface="+mn-ea"/>
                <a:cs typeface="Segoe UI Light" panose="020B0502040204020203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NextHikes</a:t>
            </a:r>
            <a:r>
              <a:rPr lang="en-US" dirty="0"/>
              <a:t> IT Solutions</a:t>
            </a:r>
          </a:p>
        </p:txBody>
      </p:sp>
      <p:pic>
        <p:nvPicPr>
          <p:cNvPr id="6" name="Audio 5">
            <a:hlinkClick r:id="" action="ppaction://media"/>
            <a:extLst>
              <a:ext uri="{FF2B5EF4-FFF2-40B4-BE49-F238E27FC236}">
                <a16:creationId xmlns:a16="http://schemas.microsoft.com/office/drawing/2014/main" id="{F4732781-A58F-D470-1E7F-2F26D65B2B8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262704" t="-125896" r="-262704" b="-125896"/>
          <a:stretch>
            <a:fillRect/>
          </a:stretch>
        </p:blipFill>
        <p:spPr>
          <a:xfrm>
            <a:off x="9144000" y="5143500"/>
            <a:ext cx="304800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147410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10701">
        <p15:prstTrans prst="pageCurlDouble"/>
      </p:transition>
    </mc:Choice>
    <mc:Fallback xmlns="">
      <p:transition spd="slow" advTm="1070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D0116F-108C-8836-457D-CCB324A472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447C018-52B0-F438-7B1B-B7EEB7E3E79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E46996-BD8F-8D5C-CBCE-41968620FC8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NextHike IT Solutions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597DA24-A57E-C520-5C5A-0CF8DD51F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0006" y="11837"/>
            <a:ext cx="6854773" cy="1069848"/>
          </a:xfrm>
        </p:spPr>
        <p:txBody>
          <a:bodyPr/>
          <a:lstStyle/>
          <a:p>
            <a:pPr algn="ctr"/>
            <a:r>
              <a:rPr lang="en-US" sz="4400" kern="0" spc="-94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itannic Bold" panose="020B0903060703020204" pitchFamily="34" charset="0"/>
                <a:ea typeface="Petrona Bold" pitchFamily="34" charset="-122"/>
              </a:rPr>
              <a:t>IDENTIFY FEATURE TYPES</a:t>
            </a:r>
            <a:endParaRPr lang="en-IN" sz="4400" kern="0" spc="-94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ritannic Bold" panose="020B0903060703020204" pitchFamily="34" charset="0"/>
              <a:ea typeface="Petrona Bold" pitchFamily="34" charset="-122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082DA62-7B8B-4933-4BD2-ABF9C6088F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4572000" cy="6858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7EFC8C3-CE70-9540-94E1-AE7C8374C571}"/>
              </a:ext>
            </a:extLst>
          </p:cNvPr>
          <p:cNvSpPr txBox="1"/>
          <p:nvPr/>
        </p:nvSpPr>
        <p:spPr>
          <a:xfrm>
            <a:off x="5140006" y="1438841"/>
            <a:ext cx="6589059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b="1" dirty="0">
                <a:solidFill>
                  <a:srgbClr val="F8FAFF"/>
                </a:solidFill>
                <a:latin typeface="DeepSeek-CJK-patch"/>
              </a:rPr>
              <a:t>Separated variables into: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F8FAFF"/>
                </a:solidFill>
                <a:latin typeface="DeepSeek-CJK-patch"/>
              </a:rPr>
              <a:t>Numerical Features- Memory, RAM, Battery, AI Lens, Mobile Height, Prize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F8FAFF"/>
                </a:solidFill>
                <a:latin typeface="DeepSeek-CJK-patch"/>
              </a:rPr>
              <a:t>Categorical Features- Model, Colour, Rear Camera, Front Camera, Processor</a:t>
            </a:r>
          </a:p>
          <a:p>
            <a:endParaRPr lang="en-IN" sz="2000" dirty="0">
              <a:solidFill>
                <a:srgbClr val="F8FAFF"/>
              </a:solidFill>
              <a:latin typeface="DeepSeek-CJK-patch"/>
            </a:endParaRPr>
          </a:p>
          <a:p>
            <a:r>
              <a:rPr lang="en-IN" sz="2800" b="1" dirty="0">
                <a:solidFill>
                  <a:srgbClr val="F8FAFF"/>
                </a:solidFill>
                <a:latin typeface="DeepSeek-CJK-patch"/>
              </a:rPr>
              <a:t>This helped determine appropriate EDA and encoding techniques.</a:t>
            </a:r>
            <a:endParaRPr lang="en-IN" sz="2400" b="1" dirty="0">
              <a:solidFill>
                <a:srgbClr val="F8FAFF"/>
              </a:solidFill>
              <a:latin typeface="DeepSeek-CJK-patch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F25DF76B-86A3-B522-B8B7-17DC835C87E1}"/>
              </a:ext>
            </a:extLst>
          </p:cNvPr>
          <p:cNvSpPr txBox="1">
            <a:spLocks/>
          </p:cNvSpPr>
          <p:nvPr/>
        </p:nvSpPr>
        <p:spPr>
          <a:xfrm>
            <a:off x="618744" y="6342888"/>
            <a:ext cx="2331720" cy="2743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b="0" i="0" kern="1200">
                <a:solidFill>
                  <a:schemeClr val="bg1"/>
                </a:solidFill>
                <a:latin typeface="+mn-lt"/>
                <a:ea typeface="+mn-ea"/>
                <a:cs typeface="Segoe UI Light" panose="020B0502040204020203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NextHikes</a:t>
            </a:r>
            <a:r>
              <a:rPr lang="en-US" dirty="0"/>
              <a:t> IT Solutions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F68BE9D3-3C37-7E70-9BC8-8E32ABE94960}"/>
                  </a:ext>
                </a:extLst>
              </p14:cNvPr>
              <p14:cNvContentPartPr/>
              <p14:nvPr/>
            </p14:nvContentPartPr>
            <p14:xfrm>
              <a:off x="3276720" y="5931000"/>
              <a:ext cx="3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F68BE9D3-3C37-7E70-9BC8-8E32ABE9496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267360" y="5921640"/>
                <a:ext cx="19080" cy="19080"/>
              </a:xfrm>
              <a:prstGeom prst="rect">
                <a:avLst/>
              </a:prstGeom>
            </p:spPr>
          </p:pic>
        </mc:Fallback>
      </mc:AlternateContent>
      <p:pic>
        <p:nvPicPr>
          <p:cNvPr id="11" name="Audio 10">
            <a:hlinkClick r:id="" action="ppaction://media"/>
            <a:extLst>
              <a:ext uri="{FF2B5EF4-FFF2-40B4-BE49-F238E27FC236}">
                <a16:creationId xmlns:a16="http://schemas.microsoft.com/office/drawing/2014/main" id="{4BBF14FC-7017-3BB2-F31B-D5CAC2F8970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rcRect l="-262704" t="-125896" r="-262704" b="-125896"/>
          <a:stretch>
            <a:fillRect/>
          </a:stretch>
        </p:blipFill>
        <p:spPr>
          <a:xfrm>
            <a:off x="9144000" y="5143500"/>
            <a:ext cx="304800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452101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23789">
        <p15:prstTrans prst="pageCurlDouble"/>
      </p:transition>
    </mc:Choice>
    <mc:Fallback xmlns="">
      <p:transition spd="slow" advTm="23789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E78FC-B33F-5645-7D83-982EA50C08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392" y="254687"/>
            <a:ext cx="5940373" cy="1069848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IN" sz="4400" kern="0" spc="-94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itannic Bold" panose="020B0903060703020204" pitchFamily="34" charset="0"/>
                <a:ea typeface="Petrona Bold" pitchFamily="34" charset="-122"/>
              </a:rPr>
              <a:t>Data Cleaning &amp; Preprocessing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90E307-8773-E113-3897-41559B55C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NextHikes</a:t>
            </a:r>
            <a:r>
              <a:rPr lang="en-US" dirty="0"/>
              <a:t> IT Solutions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BCD38D-499D-17A7-FD74-E1554FCA4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9</a:t>
            </a:fld>
            <a:endParaRPr lang="en-US" dirty="0"/>
          </a:p>
        </p:txBody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2517BA56-1923-1DAD-9DAF-E9B14562C76E}"/>
              </a:ext>
            </a:extLst>
          </p:cNvPr>
          <p:cNvSpPr/>
          <p:nvPr/>
        </p:nvSpPr>
        <p:spPr>
          <a:xfrm>
            <a:off x="1078992" y="1841549"/>
            <a:ext cx="3083370" cy="1713571"/>
          </a:xfrm>
          <a:prstGeom prst="round2DiagRect">
            <a:avLst/>
          </a:prstGeom>
          <a:solidFill>
            <a:srgbClr val="6A23F1"/>
          </a:solidFill>
          <a:ln w="7620">
            <a:solidFill>
              <a:srgbClr val="48367C"/>
            </a:solidFill>
            <a:prstDash val="solid"/>
          </a:ln>
        </p:spPr>
      </p:sp>
      <p:sp>
        <p:nvSpPr>
          <p:cNvPr id="6" name="Shape 1">
            <a:extLst>
              <a:ext uri="{FF2B5EF4-FFF2-40B4-BE49-F238E27FC236}">
                <a16:creationId xmlns:a16="http://schemas.microsoft.com/office/drawing/2014/main" id="{039EEAE9-65B5-4154-F1C8-906D99DCD47A}"/>
              </a:ext>
            </a:extLst>
          </p:cNvPr>
          <p:cNvSpPr/>
          <p:nvPr/>
        </p:nvSpPr>
        <p:spPr>
          <a:xfrm>
            <a:off x="4462956" y="1841549"/>
            <a:ext cx="2785009" cy="1615693"/>
          </a:xfrm>
          <a:prstGeom prst="round2DiagRect">
            <a:avLst/>
          </a:prstGeom>
          <a:solidFill>
            <a:srgbClr val="6A23F1"/>
          </a:solidFill>
          <a:ln w="7620">
            <a:solidFill>
              <a:srgbClr val="48367C"/>
            </a:solidFill>
            <a:prstDash val="solid"/>
          </a:ln>
        </p:spPr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30EDB5CA-B748-8AE6-BAA9-CC707FE256B1}"/>
              </a:ext>
            </a:extLst>
          </p:cNvPr>
          <p:cNvSpPr/>
          <p:nvPr/>
        </p:nvSpPr>
        <p:spPr>
          <a:xfrm>
            <a:off x="1078992" y="3956180"/>
            <a:ext cx="6168973" cy="1615693"/>
          </a:xfrm>
          <a:prstGeom prst="round2DiagRect">
            <a:avLst/>
          </a:prstGeom>
          <a:solidFill>
            <a:srgbClr val="6A23F1"/>
          </a:solidFill>
          <a:ln w="7620">
            <a:solidFill>
              <a:srgbClr val="48367C"/>
            </a:solidFill>
            <a:prstDash val="solid"/>
          </a:ln>
        </p:spPr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3B05C71-7905-6009-CBFA-6A021AE278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0" y="0"/>
            <a:ext cx="4572000" cy="6858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4B478AC-C479-0A85-EBA7-720FFC1BDE5D}"/>
              </a:ext>
            </a:extLst>
          </p:cNvPr>
          <p:cNvSpPr txBox="1"/>
          <p:nvPr/>
        </p:nvSpPr>
        <p:spPr>
          <a:xfrm>
            <a:off x="4652682" y="2030506"/>
            <a:ext cx="2393577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Features:</a:t>
            </a:r>
            <a:endParaRPr lang="en-US" sz="2000" b="1" dirty="0">
              <a:solidFill>
                <a:schemeClr val="bg1"/>
              </a:solidFill>
            </a:endParaRPr>
          </a:p>
          <a:p>
            <a:r>
              <a:rPr lang="en-IN" sz="1400" dirty="0">
                <a:solidFill>
                  <a:srgbClr val="F8FAFF"/>
                </a:solidFill>
                <a:latin typeface="DeepSeek-CJK-patch"/>
              </a:rPr>
              <a:t>Memory, RAM, Battery, AI Lens, Mobile Height, Prize, Model, Colour, Rear Camera, Front Camera, Processor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DF0B445-532F-FB94-254A-580AFDA532EB}"/>
              </a:ext>
            </a:extLst>
          </p:cNvPr>
          <p:cNvSpPr txBox="1"/>
          <p:nvPr/>
        </p:nvSpPr>
        <p:spPr>
          <a:xfrm>
            <a:off x="1363377" y="4563971"/>
            <a:ext cx="57687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Feature Types</a:t>
            </a:r>
            <a:r>
              <a:rPr lang="en-US" sz="2000" dirty="0">
                <a:solidFill>
                  <a:schemeClr val="bg1"/>
                </a:solidFill>
              </a:rPr>
              <a:t>: </a:t>
            </a:r>
            <a:r>
              <a:rPr lang="en-US" sz="2000" dirty="0">
                <a:solidFill>
                  <a:schemeClr val="bg1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Numerical and Categorical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69D5A14-4435-DAB3-0689-52E6F2F868B0}"/>
              </a:ext>
            </a:extLst>
          </p:cNvPr>
          <p:cNvSpPr txBox="1"/>
          <p:nvPr/>
        </p:nvSpPr>
        <p:spPr>
          <a:xfrm>
            <a:off x="1363377" y="2144809"/>
            <a:ext cx="2514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Total Records:</a:t>
            </a:r>
            <a:endParaRPr lang="en-US" sz="2000" b="1" dirty="0">
              <a:solidFill>
                <a:schemeClr val="bg1"/>
              </a:solidFill>
            </a:endParaRPr>
          </a:p>
          <a:p>
            <a:r>
              <a:rPr lang="en-IN" sz="2000" b="0" i="0" dirty="0">
                <a:solidFill>
                  <a:schemeClr val="bg1"/>
                </a:solidFill>
                <a:effectLst/>
                <a:latin typeface="DeepSeek-CJK-patch"/>
              </a:rPr>
              <a:t>541 Rows and 12 Columns</a:t>
            </a:r>
            <a:endParaRPr 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286708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E3633-3968-7B1F-279F-2CDCAF0C6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99D66F-8749-34D1-C676-A375A7460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392" y="68825"/>
            <a:ext cx="5510067" cy="1884911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IN" sz="4400" kern="0" spc="-94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itannic Bold" panose="020B0903060703020204" pitchFamily="34" charset="0"/>
                <a:ea typeface="Petrona Bold" pitchFamily="34" charset="-122"/>
              </a:rPr>
              <a:t>Exploratory</a:t>
            </a:r>
            <a:r>
              <a:rPr lang="en-IN" b="1" i="0" dirty="0">
                <a:solidFill>
                  <a:srgbClr val="F8FAFF"/>
                </a:solidFill>
                <a:effectLst/>
                <a:latin typeface="DeepSeek-CJK-patch"/>
              </a:rPr>
              <a:t> </a:t>
            </a:r>
            <a:r>
              <a:rPr lang="en-IN" sz="4400" kern="0" spc="-94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itannic Bold" panose="020B0903060703020204" pitchFamily="34" charset="0"/>
                <a:ea typeface="Petrona Bold" pitchFamily="34" charset="-122"/>
              </a:rPr>
              <a:t>Data Analysis (EDA)</a:t>
            </a:r>
            <a:br>
              <a:rPr lang="en-IN" b="1" i="0" dirty="0">
                <a:solidFill>
                  <a:srgbClr val="F8FAFF"/>
                </a:solidFill>
                <a:effectLst/>
                <a:latin typeface="DeepSeek-CJK-patch"/>
              </a:rPr>
            </a:br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6E44A81-3286-D3F4-44C4-95C2C29FF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NextHikes</a:t>
            </a:r>
            <a:r>
              <a:rPr lang="en-US" dirty="0"/>
              <a:t> It Solutions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77ED3D-3310-639B-2DE2-F02BEE947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10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560CDA-FB3A-1099-5BFF-3CBEE4371632}"/>
              </a:ext>
            </a:extLst>
          </p:cNvPr>
          <p:cNvSpPr txBox="1"/>
          <p:nvPr/>
        </p:nvSpPr>
        <p:spPr>
          <a:xfrm>
            <a:off x="850392" y="1953737"/>
            <a:ext cx="5245608" cy="34547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Aft>
                <a:spcPts val="300"/>
              </a:spcAft>
            </a:pPr>
            <a:r>
              <a:rPr lang="en-IN" sz="2800" b="1" i="0" dirty="0">
                <a:solidFill>
                  <a:srgbClr val="F8FAFF"/>
                </a:solidFill>
                <a:effectLst/>
                <a:latin typeface="DeepSeek-CJK-patch"/>
              </a:rPr>
              <a:t>Univariate Analysis</a:t>
            </a:r>
            <a:r>
              <a:rPr lang="en-IN" b="1" i="0" dirty="0">
                <a:solidFill>
                  <a:srgbClr val="F8FAFF"/>
                </a:solidFill>
                <a:effectLst/>
                <a:latin typeface="DeepSeek-CJK-patch"/>
              </a:rPr>
              <a:t>:</a:t>
            </a:r>
            <a:endParaRPr lang="en-IN" dirty="0">
              <a:solidFill>
                <a:srgbClr val="F8FAFF"/>
              </a:solidFill>
              <a:latin typeface="DeepSeek-CJK-patch"/>
            </a:endParaRPr>
          </a:p>
          <a:p>
            <a:pPr marL="342900" indent="-342900"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N" sz="2000" dirty="0" err="1">
                <a:solidFill>
                  <a:srgbClr val="F8FAFF"/>
                </a:solidFill>
                <a:latin typeface="DeepSeek-CJK-patch"/>
              </a:rPr>
              <a:t>Analyzed</a:t>
            </a:r>
            <a:r>
              <a:rPr lang="en-IN" sz="2000" dirty="0">
                <a:solidFill>
                  <a:srgbClr val="F8FAFF"/>
                </a:solidFill>
                <a:latin typeface="DeepSeek-CJK-patch"/>
              </a:rPr>
              <a:t> individual feature distributions.</a:t>
            </a:r>
          </a:p>
          <a:p>
            <a:pPr marL="342900" indent="-342900"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F8FAFF"/>
                </a:solidFill>
                <a:latin typeface="DeepSeek-CJK-patch"/>
              </a:rPr>
              <a:t>Used: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F8FAFF"/>
                </a:solidFill>
                <a:latin typeface="DeepSeek-CJK-patch"/>
              </a:rPr>
              <a:t>Histograms for numeric variables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F8FAFF"/>
                </a:solidFill>
                <a:latin typeface="DeepSeek-CJK-patch"/>
              </a:rPr>
              <a:t>Count plots for categorical variables</a:t>
            </a:r>
          </a:p>
          <a:p>
            <a:pPr lvl="1" algn="l">
              <a:spcBef>
                <a:spcPts val="300"/>
              </a:spcBef>
            </a:pPr>
            <a:endParaRPr lang="en-IN" sz="2000" dirty="0">
              <a:solidFill>
                <a:srgbClr val="F8FAFF"/>
              </a:solidFill>
              <a:latin typeface="DeepSeek-CJK-patch"/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lang="en-IN" sz="2800" b="1" dirty="0">
                <a:solidFill>
                  <a:srgbClr val="F8FAFF"/>
                </a:solidFill>
                <a:latin typeface="DeepSeek-CJK-patch"/>
              </a:rPr>
              <a:t>Goal:</a:t>
            </a:r>
          </a:p>
          <a:p>
            <a:pPr marL="742950" lvl="1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F8FAFF"/>
                </a:solidFill>
                <a:latin typeface="DeepSeek-CJK-patch"/>
              </a:rPr>
              <a:t>Understand data distribution and detect anomalies.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58FC106-E398-B9AE-86B4-C8D3062FAB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1933" y="93997"/>
            <a:ext cx="5000022" cy="324897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03CEB63-7A85-87D7-4F62-E3373276DB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1932" y="3441290"/>
            <a:ext cx="5000023" cy="3322713"/>
          </a:xfrm>
          <a:prstGeom prst="rect">
            <a:avLst/>
          </a:prstGeom>
        </p:spPr>
      </p:pic>
      <p:pic>
        <p:nvPicPr>
          <p:cNvPr id="14" name="Audio 13">
            <a:hlinkClick r:id="" action="ppaction://media"/>
            <a:extLst>
              <a:ext uri="{FF2B5EF4-FFF2-40B4-BE49-F238E27FC236}">
                <a16:creationId xmlns:a16="http://schemas.microsoft.com/office/drawing/2014/main" id="{BD289962-EE6C-AB9F-7450-EC1BEF906C3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262704" t="-125896" r="-262704" b="-125896"/>
          <a:stretch>
            <a:fillRect/>
          </a:stretch>
        </p:blipFill>
        <p:spPr>
          <a:xfrm>
            <a:off x="9144000" y="5143500"/>
            <a:ext cx="304800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7774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24619">
        <p15:prstTrans prst="pageCurlDouble"/>
      </p:transition>
    </mc:Choice>
    <mc:Fallback xmlns="">
      <p:transition spd="slow" advTm="24619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4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EACA7F-8029-F108-8A4F-3AB85574F0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7D120-4D26-7B4E-3CFD-98CD609FB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392" y="68825"/>
            <a:ext cx="5510067" cy="1884911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IN" sz="4400" kern="0" spc="-94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itannic Bold" panose="020B0903060703020204" pitchFamily="34" charset="0"/>
                <a:ea typeface="Petrona Bold" pitchFamily="34" charset="-122"/>
              </a:rPr>
              <a:t>Exploratory</a:t>
            </a:r>
            <a:r>
              <a:rPr lang="en-IN" b="1" i="0" dirty="0">
                <a:solidFill>
                  <a:srgbClr val="F8FAFF"/>
                </a:solidFill>
                <a:effectLst/>
                <a:latin typeface="DeepSeek-CJK-patch"/>
              </a:rPr>
              <a:t> </a:t>
            </a:r>
            <a:r>
              <a:rPr lang="en-IN" sz="4400" kern="0" spc="-94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itannic Bold" panose="020B0903060703020204" pitchFamily="34" charset="0"/>
                <a:ea typeface="Petrona Bold" pitchFamily="34" charset="-122"/>
              </a:rPr>
              <a:t>Data Analysis (EDA)</a:t>
            </a:r>
            <a:br>
              <a:rPr lang="en-IN" b="1" i="0" dirty="0">
                <a:solidFill>
                  <a:srgbClr val="F8FAFF"/>
                </a:solidFill>
                <a:effectLst/>
                <a:latin typeface="DeepSeek-CJK-patch"/>
              </a:rPr>
            </a:br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DD6C11-F4D1-4572-6ECF-D5B584109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NextHikes</a:t>
            </a:r>
            <a:r>
              <a:rPr lang="en-US" dirty="0"/>
              <a:t> It Solutions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6ED4D5-D525-D231-8194-B3021451D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11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E31F25-08CF-859F-B5F3-9BFA29820A01}"/>
              </a:ext>
            </a:extLst>
          </p:cNvPr>
          <p:cNvSpPr txBox="1"/>
          <p:nvPr/>
        </p:nvSpPr>
        <p:spPr>
          <a:xfrm>
            <a:off x="850392" y="1953737"/>
            <a:ext cx="5245608" cy="34547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Aft>
                <a:spcPts val="300"/>
              </a:spcAft>
            </a:pPr>
            <a:r>
              <a:rPr lang="en-IN" sz="2800" b="1" dirty="0">
                <a:solidFill>
                  <a:srgbClr val="F8FAFF"/>
                </a:solidFill>
                <a:latin typeface="DeepSeek-CJK-patch"/>
              </a:rPr>
              <a:t>Bivariate</a:t>
            </a:r>
            <a:r>
              <a:rPr lang="en-IN" sz="2800" b="1" i="0" dirty="0">
                <a:solidFill>
                  <a:srgbClr val="F8FAFF"/>
                </a:solidFill>
                <a:effectLst/>
                <a:latin typeface="DeepSeek-CJK-patch"/>
              </a:rPr>
              <a:t> Analysis</a:t>
            </a:r>
            <a:r>
              <a:rPr lang="en-IN" b="1" i="0" dirty="0">
                <a:solidFill>
                  <a:srgbClr val="F8FAFF"/>
                </a:solidFill>
                <a:effectLst/>
                <a:latin typeface="DeepSeek-CJK-patch"/>
              </a:rPr>
              <a:t>:</a:t>
            </a:r>
            <a:endParaRPr lang="en-IN" dirty="0">
              <a:solidFill>
                <a:srgbClr val="F8FAFF"/>
              </a:solidFill>
              <a:latin typeface="DeepSeek-CJK-patch"/>
            </a:endParaRPr>
          </a:p>
          <a:p>
            <a:pPr marL="342900" indent="-342900"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N" sz="2000" dirty="0" err="1">
                <a:solidFill>
                  <a:srgbClr val="F8FAFF"/>
                </a:solidFill>
                <a:latin typeface="DeepSeek-CJK-patch"/>
              </a:rPr>
              <a:t>Analyzed</a:t>
            </a:r>
            <a:r>
              <a:rPr lang="en-IN" sz="2000" dirty="0">
                <a:solidFill>
                  <a:srgbClr val="F8FAFF"/>
                </a:solidFill>
                <a:latin typeface="DeepSeek-CJK-patch"/>
              </a:rPr>
              <a:t> relationships between features and target variable (Prize).</a:t>
            </a:r>
          </a:p>
          <a:p>
            <a:pPr marL="342900" indent="-342900"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F8FAFF"/>
                </a:solidFill>
                <a:latin typeface="DeepSeek-CJK-patch"/>
              </a:rPr>
              <a:t>Used: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F8FAFF"/>
                </a:solidFill>
                <a:latin typeface="DeepSeek-CJK-patch"/>
              </a:rPr>
              <a:t>Numeric vs Prize </a:t>
            </a:r>
            <a:r>
              <a:rPr lang="en-IN" sz="2000" dirty="0">
                <a:solidFill>
                  <a:srgbClr val="F8FAFF"/>
                </a:solidFill>
                <a:latin typeface="DeepSeek-CJK-patch"/>
                <a:sym typeface="Wingdings" panose="05000000000000000000" pitchFamily="2" charset="2"/>
              </a:rPr>
              <a:t></a:t>
            </a:r>
            <a:r>
              <a:rPr lang="en-IN" sz="2000" dirty="0">
                <a:solidFill>
                  <a:srgbClr val="F8FAFF"/>
                </a:solidFill>
                <a:latin typeface="DeepSeek-CJK-patch"/>
              </a:rPr>
              <a:t> Scatter plots</a:t>
            </a:r>
          </a:p>
          <a:p>
            <a:pPr marL="742950" lvl="1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F8FAFF"/>
                </a:solidFill>
                <a:latin typeface="DeepSeek-CJK-patch"/>
              </a:rPr>
              <a:t>Categorical vs Prize </a:t>
            </a:r>
            <a:r>
              <a:rPr lang="en-IN" sz="2000" dirty="0">
                <a:solidFill>
                  <a:srgbClr val="F8FAFF"/>
                </a:solidFill>
                <a:latin typeface="DeepSeek-CJK-patch"/>
                <a:sym typeface="Wingdings" panose="05000000000000000000" pitchFamily="2" charset="2"/>
              </a:rPr>
              <a:t></a:t>
            </a:r>
            <a:r>
              <a:rPr lang="en-IN" sz="2000" dirty="0">
                <a:solidFill>
                  <a:srgbClr val="F8FAFF"/>
                </a:solidFill>
                <a:latin typeface="DeepSeek-CJK-patch"/>
              </a:rPr>
              <a:t> Box plots</a:t>
            </a:r>
          </a:p>
          <a:p>
            <a:pPr lvl="1">
              <a:spcBef>
                <a:spcPts val="300"/>
              </a:spcBef>
            </a:pPr>
            <a:endParaRPr lang="en-IN" sz="2000" dirty="0">
              <a:solidFill>
                <a:srgbClr val="F8FAFF"/>
              </a:solidFill>
              <a:latin typeface="DeepSeek-CJK-patch"/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lang="en-IN" sz="2800" b="1" dirty="0">
                <a:solidFill>
                  <a:srgbClr val="F8FAFF"/>
                </a:solidFill>
                <a:latin typeface="DeepSeek-CJK-patch"/>
              </a:rPr>
              <a:t>Goal:</a:t>
            </a:r>
          </a:p>
          <a:p>
            <a:pPr marL="742950" lvl="1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F8FAFF"/>
                </a:solidFill>
                <a:latin typeface="DeepSeek-CJK-patch"/>
              </a:rPr>
              <a:t>Identify features influencing price.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723116-B728-974D-0C5E-9CD97C824F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1932" y="93997"/>
            <a:ext cx="5000023" cy="325329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421C9E0-6825-ECDA-437D-0F114CACB2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1932" y="3429001"/>
            <a:ext cx="5000023" cy="3335002"/>
          </a:xfrm>
          <a:prstGeom prst="rect">
            <a:avLst/>
          </a:prstGeom>
        </p:spPr>
      </p:pic>
      <p:pic>
        <p:nvPicPr>
          <p:cNvPr id="13" name="Audio 12">
            <a:hlinkClick r:id="" action="ppaction://media"/>
            <a:extLst>
              <a:ext uri="{FF2B5EF4-FFF2-40B4-BE49-F238E27FC236}">
                <a16:creationId xmlns:a16="http://schemas.microsoft.com/office/drawing/2014/main" id="{978EA9F6-D2AB-7AE6-95D1-C80144EFD88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262704" t="-125896" r="-262704" b="-125896"/>
          <a:stretch>
            <a:fillRect/>
          </a:stretch>
        </p:blipFill>
        <p:spPr>
          <a:xfrm>
            <a:off x="9144000" y="5143500"/>
            <a:ext cx="304800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841691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28911">
        <p15:prstTrans prst="pageCurlDouble"/>
      </p:transition>
    </mc:Choice>
    <mc:Fallback xmlns="">
      <p:transition spd="slow" advTm="2891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3"/>
                </p:tgtEl>
              </p:cMediaNode>
            </p:audi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D438EB-DD2B-72EC-F95B-5B23E8452F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811F2-6933-465F-38E8-D3D59D6E25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392" y="68825"/>
            <a:ext cx="5510067" cy="1884911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IN" sz="4400" kern="0" spc="-94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itannic Bold" panose="020B0903060703020204" pitchFamily="34" charset="0"/>
                <a:ea typeface="Petrona Bold" pitchFamily="34" charset="-122"/>
              </a:rPr>
              <a:t>Exploratory</a:t>
            </a:r>
            <a:r>
              <a:rPr lang="en-IN" b="1" i="0" dirty="0">
                <a:solidFill>
                  <a:srgbClr val="F8FAFF"/>
                </a:solidFill>
                <a:effectLst/>
                <a:latin typeface="DeepSeek-CJK-patch"/>
              </a:rPr>
              <a:t> </a:t>
            </a:r>
            <a:r>
              <a:rPr lang="en-IN" sz="4400" kern="0" spc="-94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itannic Bold" panose="020B0903060703020204" pitchFamily="34" charset="0"/>
                <a:ea typeface="Petrona Bold" pitchFamily="34" charset="-122"/>
              </a:rPr>
              <a:t>Data Analysis (EDA)</a:t>
            </a:r>
            <a:br>
              <a:rPr lang="en-IN" b="1" i="0" dirty="0">
                <a:solidFill>
                  <a:srgbClr val="F8FAFF"/>
                </a:solidFill>
                <a:effectLst/>
                <a:latin typeface="DeepSeek-CJK-patch"/>
              </a:rPr>
            </a:br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748503-03E2-2D6E-C2D7-A8AB2576F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NextHikes</a:t>
            </a:r>
            <a:r>
              <a:rPr lang="en-US" dirty="0"/>
              <a:t> It Solutions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4D233C-4635-299F-9650-FB3A87BB5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12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C229FE-BFE9-3D6E-2745-C68C4F8C9D97}"/>
              </a:ext>
            </a:extLst>
          </p:cNvPr>
          <p:cNvSpPr txBox="1"/>
          <p:nvPr/>
        </p:nvSpPr>
        <p:spPr>
          <a:xfrm>
            <a:off x="850392" y="1953737"/>
            <a:ext cx="5245608" cy="41088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Aft>
                <a:spcPts val="300"/>
              </a:spcAft>
            </a:pPr>
            <a:r>
              <a:rPr lang="en-IN" sz="2800" b="1" i="0" dirty="0">
                <a:solidFill>
                  <a:srgbClr val="F8FAFF"/>
                </a:solidFill>
                <a:effectLst/>
                <a:latin typeface="DeepSeek-CJK-patch"/>
              </a:rPr>
              <a:t>Multivariate Analysis</a:t>
            </a:r>
            <a:r>
              <a:rPr lang="en-IN" b="1" i="0" dirty="0">
                <a:solidFill>
                  <a:srgbClr val="F8FAFF"/>
                </a:solidFill>
                <a:effectLst/>
                <a:latin typeface="DeepSeek-CJK-patch"/>
              </a:rPr>
              <a:t>:</a:t>
            </a:r>
            <a:endParaRPr lang="en-IN" dirty="0">
              <a:solidFill>
                <a:srgbClr val="F8FAFF"/>
              </a:solidFill>
              <a:latin typeface="DeepSeek-CJK-patch"/>
            </a:endParaRPr>
          </a:p>
          <a:p>
            <a:pPr marL="342900" indent="-342900"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F8FAFF"/>
                </a:solidFill>
                <a:latin typeface="DeepSeek-CJK-patch"/>
              </a:rPr>
              <a:t>Select top important numerical features.</a:t>
            </a:r>
          </a:p>
          <a:p>
            <a:pPr marL="342900" indent="-342900"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F8FAFF"/>
                </a:solidFill>
                <a:latin typeface="DeepSeek-CJK-patch"/>
              </a:rPr>
              <a:t>Used </a:t>
            </a:r>
            <a:r>
              <a:rPr lang="en-IN" sz="2000" dirty="0" err="1">
                <a:solidFill>
                  <a:srgbClr val="F8FAFF"/>
                </a:solidFill>
                <a:latin typeface="DeepSeek-CJK-patch"/>
              </a:rPr>
              <a:t>pairplot</a:t>
            </a:r>
            <a:r>
              <a:rPr lang="en-IN" sz="2000" dirty="0">
                <a:solidFill>
                  <a:srgbClr val="F8FAFF"/>
                </a:solidFill>
                <a:latin typeface="DeepSeek-CJK-patch"/>
              </a:rPr>
              <a:t> to visualize relationships.</a:t>
            </a:r>
          </a:p>
          <a:p>
            <a:pPr marL="342900" indent="-342900"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F8FAFF"/>
                </a:solidFill>
                <a:latin typeface="DeepSeek-CJK-patch"/>
              </a:rPr>
              <a:t>Shows: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F8FAFF"/>
                </a:solidFill>
                <a:latin typeface="DeepSeek-CJK-patch"/>
              </a:rPr>
              <a:t>Relationship between feature pairs</a:t>
            </a:r>
          </a:p>
          <a:p>
            <a:pPr marL="742950" lvl="1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F8FAFF"/>
                </a:solidFill>
                <a:latin typeface="DeepSeek-CJK-patch"/>
              </a:rPr>
              <a:t>Distribution of each features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lang="en-IN" sz="2800" b="1" dirty="0">
                <a:solidFill>
                  <a:srgbClr val="F8FAFF"/>
                </a:solidFill>
                <a:latin typeface="DeepSeek-CJK-patch"/>
              </a:rPr>
              <a:t>Goal:</a:t>
            </a:r>
          </a:p>
          <a:p>
            <a:pPr marL="742950" lvl="1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F8FAFF"/>
                </a:solidFill>
                <a:latin typeface="DeepSeek-CJK-patch"/>
              </a:rPr>
              <a:t>Helps understand interaction between variables.</a:t>
            </a:r>
          </a:p>
          <a:p>
            <a:pPr marL="742950" lvl="1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F8FAFF"/>
                </a:solidFill>
                <a:latin typeface="DeepSeek-CJK-patch"/>
              </a:rPr>
              <a:t>Supports better feature selection and </a:t>
            </a:r>
            <a:r>
              <a:rPr lang="en-IN" sz="2000" dirty="0" err="1">
                <a:solidFill>
                  <a:srgbClr val="F8FAFF"/>
                </a:solidFill>
                <a:latin typeface="DeepSeek-CJK-patch"/>
              </a:rPr>
              <a:t>modeling</a:t>
            </a:r>
            <a:r>
              <a:rPr lang="en-IN" sz="2000" dirty="0">
                <a:solidFill>
                  <a:srgbClr val="F8FAFF"/>
                </a:solidFill>
                <a:latin typeface="DeepSeek-CJK-patch"/>
              </a:rPr>
              <a:t>.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3ED8547-9F0C-A8EB-8598-A1DDDCD4E3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7209" y="68825"/>
            <a:ext cx="5245608" cy="6695769"/>
          </a:xfrm>
          <a:prstGeom prst="rect">
            <a:avLst/>
          </a:prstGeom>
        </p:spPr>
      </p:pic>
      <p:pic>
        <p:nvPicPr>
          <p:cNvPr id="14" name="Audio 13">
            <a:hlinkClick r:id="" action="ppaction://media"/>
            <a:extLst>
              <a:ext uri="{FF2B5EF4-FFF2-40B4-BE49-F238E27FC236}">
                <a16:creationId xmlns:a16="http://schemas.microsoft.com/office/drawing/2014/main" id="{FFAB7917-CFC9-B5A6-8746-EFAA2C9389E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262704" t="-125896" r="-262704" b="-125896"/>
          <a:stretch>
            <a:fillRect/>
          </a:stretch>
        </p:blipFill>
        <p:spPr>
          <a:xfrm>
            <a:off x="9144000" y="5143500"/>
            <a:ext cx="304800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735957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29132">
        <p15:prstTrans prst="pageCurlDouble"/>
      </p:transition>
    </mc:Choice>
    <mc:Fallback xmlns="">
      <p:transition spd="slow" advTm="29132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4"/>
                </p:tgtEl>
              </p:cMediaNode>
            </p:audi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9E4D57-F89E-28FB-6AF9-F35ED56178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6B4D7-B571-CB09-A381-E602EE724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392" y="68825"/>
            <a:ext cx="5510067" cy="1884911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IN" sz="4400" kern="0" spc="-94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itannic Bold" panose="020B0903060703020204" pitchFamily="34" charset="0"/>
                <a:ea typeface="Petrona Bold" pitchFamily="34" charset="-122"/>
              </a:rPr>
              <a:t>Exploratory</a:t>
            </a:r>
            <a:r>
              <a:rPr lang="en-IN" b="1" i="0" dirty="0">
                <a:solidFill>
                  <a:srgbClr val="F8FAFF"/>
                </a:solidFill>
                <a:effectLst/>
                <a:latin typeface="DeepSeek-CJK-patch"/>
              </a:rPr>
              <a:t> </a:t>
            </a:r>
            <a:r>
              <a:rPr lang="en-IN" sz="4400" kern="0" spc="-94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itannic Bold" panose="020B0903060703020204" pitchFamily="34" charset="0"/>
                <a:ea typeface="Petrona Bold" pitchFamily="34" charset="-122"/>
              </a:rPr>
              <a:t>Data Analysis (EDA)</a:t>
            </a:r>
            <a:br>
              <a:rPr lang="en-IN" b="1" i="0" dirty="0">
                <a:solidFill>
                  <a:srgbClr val="F8FAFF"/>
                </a:solidFill>
                <a:effectLst/>
                <a:latin typeface="DeepSeek-CJK-patch"/>
              </a:rPr>
            </a:br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7DB8DC-6F4B-1064-C1DC-030EBA486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NextHikes</a:t>
            </a:r>
            <a:r>
              <a:rPr lang="en-US" dirty="0"/>
              <a:t> It Solutions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3FB99A-5CDA-462B-74EF-850D5DDB3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13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52E2AE-02C7-1AE1-E191-12517B5213FD}"/>
              </a:ext>
            </a:extLst>
          </p:cNvPr>
          <p:cNvSpPr txBox="1"/>
          <p:nvPr/>
        </p:nvSpPr>
        <p:spPr>
          <a:xfrm>
            <a:off x="850392" y="1953737"/>
            <a:ext cx="5245608" cy="41088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Aft>
                <a:spcPts val="300"/>
              </a:spcAft>
            </a:pPr>
            <a:r>
              <a:rPr lang="en-IN" sz="2800" b="1" i="0" dirty="0">
                <a:solidFill>
                  <a:srgbClr val="F8FAFF"/>
                </a:solidFill>
                <a:effectLst/>
                <a:latin typeface="DeepSeek-CJK-patch"/>
              </a:rPr>
              <a:t>Correlation Analysis</a:t>
            </a:r>
            <a:r>
              <a:rPr lang="en-IN" b="1" i="0" dirty="0">
                <a:solidFill>
                  <a:srgbClr val="F8FAFF"/>
                </a:solidFill>
                <a:effectLst/>
                <a:latin typeface="DeepSeek-CJK-patch"/>
              </a:rPr>
              <a:t>:</a:t>
            </a:r>
            <a:endParaRPr lang="en-IN" dirty="0">
              <a:solidFill>
                <a:srgbClr val="F8FAFF"/>
              </a:solidFill>
              <a:latin typeface="DeepSeek-CJK-patch"/>
            </a:endParaRPr>
          </a:p>
          <a:p>
            <a:pPr marL="342900" indent="-342900"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N" sz="2000" dirty="0" err="1">
                <a:solidFill>
                  <a:srgbClr val="F8FAFF"/>
                </a:solidFill>
                <a:latin typeface="DeepSeek-CJK-patch"/>
              </a:rPr>
              <a:t>Analyzed</a:t>
            </a:r>
            <a:r>
              <a:rPr lang="en-IN" sz="2000" dirty="0">
                <a:solidFill>
                  <a:srgbClr val="F8FAFF"/>
                </a:solidFill>
                <a:latin typeface="DeepSeek-CJK-patch"/>
              </a:rPr>
              <a:t> relationship between numerical features and Prize.</a:t>
            </a:r>
          </a:p>
          <a:p>
            <a:pPr marL="342900" indent="-34290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F8FAFF"/>
                </a:solidFill>
                <a:latin typeface="DeepSeek-CJK-patch"/>
              </a:rPr>
              <a:t>Generated correlation matrix and heatmap.</a:t>
            </a:r>
          </a:p>
          <a:p>
            <a:pPr marL="342900" indent="-34290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F8FAFF"/>
                </a:solidFill>
                <a:latin typeface="DeepSeek-CJK-patch"/>
              </a:rPr>
              <a:t>Correlation values range from -1 to +1</a:t>
            </a:r>
          </a:p>
          <a:p>
            <a:pPr marL="342900" indent="-342900"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F8FAFF"/>
                </a:solidFill>
                <a:latin typeface="DeepSeek-CJK-patch"/>
              </a:rPr>
              <a:t>Helps identify: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F8FAFF"/>
                </a:solidFill>
                <a:latin typeface="DeepSeek-CJK-patch"/>
              </a:rPr>
              <a:t>Strong positive correlation</a:t>
            </a:r>
          </a:p>
          <a:p>
            <a:pPr marL="742950" lvl="1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F8FAFF"/>
                </a:solidFill>
                <a:latin typeface="DeepSeek-CJK-patch"/>
              </a:rPr>
              <a:t>Strong negative correlation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lang="en-IN" sz="2800" b="1" dirty="0">
                <a:solidFill>
                  <a:srgbClr val="F8FAFF"/>
                </a:solidFill>
                <a:latin typeface="DeepSeek-CJK-patch"/>
              </a:rPr>
              <a:t>Goal:</a:t>
            </a:r>
          </a:p>
          <a:p>
            <a:pPr marL="742950" lvl="1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F8FAFF"/>
                </a:solidFill>
                <a:latin typeface="DeepSeek-CJK-patch"/>
              </a:rPr>
              <a:t>Useful for feature selection and model building.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DE5E526-A977-1230-A9D5-1CB1591E9D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7208" y="68825"/>
            <a:ext cx="5245608" cy="6695769"/>
          </a:xfrm>
          <a:prstGeom prst="rect">
            <a:avLst/>
          </a:prstGeom>
        </p:spPr>
      </p:pic>
      <p:pic>
        <p:nvPicPr>
          <p:cNvPr id="11" name="Audio 10">
            <a:hlinkClick r:id="" action="ppaction://media"/>
            <a:extLst>
              <a:ext uri="{FF2B5EF4-FFF2-40B4-BE49-F238E27FC236}">
                <a16:creationId xmlns:a16="http://schemas.microsoft.com/office/drawing/2014/main" id="{74327FC9-1DF9-9170-CC55-A9D5D73EDB9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262704" t="-125896" r="-262704" b="-125896"/>
          <a:stretch>
            <a:fillRect/>
          </a:stretch>
        </p:blipFill>
        <p:spPr>
          <a:xfrm>
            <a:off x="9144000" y="5143500"/>
            <a:ext cx="304800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162659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32904">
        <p15:prstTrans prst="pageCurlDouble"/>
      </p:transition>
    </mc:Choice>
    <mc:Fallback xmlns="">
      <p:transition spd="slow" advTm="32904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95CB5F-B594-4BB8-8CC1-564E0E029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1ADD8-691E-3C1A-D6D1-264957B2E1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392" y="68825"/>
            <a:ext cx="5510067" cy="1884911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IN" sz="4400" kern="0" spc="-94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itannic Bold" panose="020B0903060703020204" pitchFamily="34" charset="0"/>
                <a:ea typeface="Petrona Bold" pitchFamily="34" charset="-122"/>
              </a:rPr>
              <a:t>Exploratory</a:t>
            </a:r>
            <a:r>
              <a:rPr lang="en-IN" b="1" i="0" dirty="0">
                <a:solidFill>
                  <a:srgbClr val="F8FAFF"/>
                </a:solidFill>
                <a:effectLst/>
                <a:latin typeface="DeepSeek-CJK-patch"/>
              </a:rPr>
              <a:t> </a:t>
            </a:r>
            <a:r>
              <a:rPr lang="en-IN" sz="4400" kern="0" spc="-94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itannic Bold" panose="020B0903060703020204" pitchFamily="34" charset="0"/>
                <a:ea typeface="Petrona Bold" pitchFamily="34" charset="-122"/>
              </a:rPr>
              <a:t>Data Analysis (EDA)</a:t>
            </a:r>
            <a:br>
              <a:rPr lang="en-IN" b="1" i="0" dirty="0">
                <a:solidFill>
                  <a:srgbClr val="F8FAFF"/>
                </a:solidFill>
                <a:effectLst/>
                <a:latin typeface="DeepSeek-CJK-patch"/>
              </a:rPr>
            </a:br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C482A2-D2DC-7FE7-EC6C-5EF066D96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NextHikes</a:t>
            </a:r>
            <a:r>
              <a:rPr lang="en-US" dirty="0"/>
              <a:t> It Solutions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2E5AED-C119-5E25-F6DB-B91227CC6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14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66AC01-3D90-7643-E2E2-95130BB84119}"/>
              </a:ext>
            </a:extLst>
          </p:cNvPr>
          <p:cNvSpPr txBox="1"/>
          <p:nvPr/>
        </p:nvSpPr>
        <p:spPr>
          <a:xfrm>
            <a:off x="850392" y="1953737"/>
            <a:ext cx="5245608" cy="42550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Aft>
                <a:spcPts val="300"/>
              </a:spcAft>
            </a:pPr>
            <a:r>
              <a:rPr lang="en-IN" sz="2800" b="1" i="0" dirty="0">
                <a:solidFill>
                  <a:srgbClr val="F8FAFF"/>
                </a:solidFill>
                <a:effectLst/>
                <a:latin typeface="DeepSeek-CJK-patch"/>
              </a:rPr>
              <a:t>Outlier Detection</a:t>
            </a:r>
            <a:r>
              <a:rPr lang="en-IN" b="1" i="0" dirty="0">
                <a:solidFill>
                  <a:srgbClr val="F8FAFF"/>
                </a:solidFill>
                <a:effectLst/>
                <a:latin typeface="DeepSeek-CJK-patch"/>
              </a:rPr>
              <a:t>:</a:t>
            </a:r>
            <a:endParaRPr lang="en-IN" dirty="0">
              <a:solidFill>
                <a:srgbClr val="F8FAFF"/>
              </a:solidFill>
              <a:latin typeface="DeepSeek-CJK-patch"/>
            </a:endParaRPr>
          </a:p>
          <a:p>
            <a:pPr marL="342900" indent="-342900"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F8FAFF"/>
                </a:solidFill>
                <a:latin typeface="DeepSeek-CJK-patch"/>
              </a:rPr>
              <a:t>Outliers are extreme on unusual values in the dataset.</a:t>
            </a:r>
          </a:p>
          <a:p>
            <a:pPr marL="342900" indent="-34290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F8FAFF"/>
                </a:solidFill>
                <a:latin typeface="DeepSeek-CJK-patch"/>
              </a:rPr>
              <a:t>Detected outliers using boxplots.</a:t>
            </a:r>
          </a:p>
          <a:p>
            <a:pPr marL="342900" indent="-34290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F8FAFF"/>
                </a:solidFill>
                <a:latin typeface="DeepSeek-CJK-patch"/>
              </a:rPr>
              <a:t>Observed presence of outliers in numeric features.</a:t>
            </a:r>
          </a:p>
          <a:p>
            <a:pPr marL="342900" indent="-34290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F8FAFF"/>
                </a:solidFill>
                <a:latin typeface="DeepSeek-CJK-patch"/>
              </a:rPr>
              <a:t>Outliers were kept because they presents real-world mobile specifications.</a:t>
            </a:r>
          </a:p>
          <a:p>
            <a:pPr latinLnBrk="1"/>
            <a:r>
              <a:rPr lang="en-US" dirty="0">
                <a:solidFill>
                  <a:schemeClr val="bg1"/>
                </a:solidFill>
              </a:rPr>
              <a:t>Memory : 55 outliers</a:t>
            </a:r>
          </a:p>
          <a:p>
            <a:pPr latinLnBrk="1"/>
            <a:r>
              <a:rPr lang="en-US" dirty="0">
                <a:solidFill>
                  <a:schemeClr val="bg1"/>
                </a:solidFill>
              </a:rPr>
              <a:t>RAM : 0 outliers</a:t>
            </a:r>
          </a:p>
          <a:p>
            <a:pPr latinLnBrk="1"/>
            <a:r>
              <a:rPr lang="en-US" dirty="0">
                <a:solidFill>
                  <a:schemeClr val="bg1"/>
                </a:solidFill>
              </a:rPr>
              <a:t>Battery_ : 148 outliers</a:t>
            </a:r>
          </a:p>
          <a:p>
            <a:pPr latinLnBrk="1"/>
            <a:r>
              <a:rPr lang="en-US" dirty="0">
                <a:solidFill>
                  <a:schemeClr val="bg1"/>
                </a:solidFill>
              </a:rPr>
              <a:t>AI Lens : 34 outliers</a:t>
            </a:r>
          </a:p>
          <a:p>
            <a:pPr latinLnBrk="1"/>
            <a:r>
              <a:rPr lang="en-US" dirty="0">
                <a:solidFill>
                  <a:schemeClr val="bg1"/>
                </a:solidFill>
              </a:rPr>
              <a:t>Mobile Height : 32 outliers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80641A0-55F7-D82C-7C9A-176F6DBD15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7208" y="68824"/>
            <a:ext cx="5245608" cy="6705602"/>
          </a:xfrm>
          <a:prstGeom prst="rect">
            <a:avLst/>
          </a:prstGeom>
        </p:spPr>
      </p:pic>
      <p:pic>
        <p:nvPicPr>
          <p:cNvPr id="13" name="Audio 12">
            <a:hlinkClick r:id="" action="ppaction://media"/>
            <a:extLst>
              <a:ext uri="{FF2B5EF4-FFF2-40B4-BE49-F238E27FC236}">
                <a16:creationId xmlns:a16="http://schemas.microsoft.com/office/drawing/2014/main" id="{FD130F78-0EA7-21AF-823D-7DAF727AAF9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262704" t="-125896" r="-262704" b="-125896"/>
          <a:stretch>
            <a:fillRect/>
          </a:stretch>
        </p:blipFill>
        <p:spPr>
          <a:xfrm>
            <a:off x="9144000" y="5143500"/>
            <a:ext cx="304800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48614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23823">
        <p15:prstTrans prst="pageCurlDouble"/>
      </p:transition>
    </mc:Choice>
    <mc:Fallback xmlns="">
      <p:transition spd="slow" advTm="23823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3"/>
                </p:tgtEl>
              </p:cMediaNode>
            </p:audio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EA947-CC69-5F03-39FA-E759E85A2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6775" y="411480"/>
            <a:ext cx="6178117" cy="906332"/>
          </a:xfrm>
        </p:spPr>
        <p:txBody>
          <a:bodyPr/>
          <a:lstStyle/>
          <a:p>
            <a:pPr algn="ctr"/>
            <a:r>
              <a:rPr lang="en-IN" sz="4400" kern="0" spc="-94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itannic Bold" panose="020B0903060703020204" pitchFamily="34" charset="0"/>
                <a:ea typeface="Petrona Bold" pitchFamily="34" charset="-122"/>
              </a:rPr>
              <a:t>Feature Engineering</a:t>
            </a:r>
            <a:br>
              <a:rPr lang="en-IN" b="1" i="0" dirty="0">
                <a:solidFill>
                  <a:srgbClr val="F8FAFF"/>
                </a:solidFill>
                <a:effectLst/>
                <a:latin typeface="DeepSeek-CJK-patch"/>
              </a:rPr>
            </a:br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BB97CE-8A58-FD6F-5D97-38A549072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BDF195-3202-64CD-626E-9769B94A7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15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6048EEC-036E-3347-DE9D-F05C0BF5B7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4572000" cy="6858000"/>
          </a:xfrm>
          <a:prstGeom prst="rect">
            <a:avLst/>
          </a:prstGeom>
        </p:spPr>
      </p:pic>
      <p:sp>
        <p:nvSpPr>
          <p:cNvPr id="10" name="Rectangle 2">
            <a:extLst>
              <a:ext uri="{FF2B5EF4-FFF2-40B4-BE49-F238E27FC236}">
                <a16:creationId xmlns:a16="http://schemas.microsoft.com/office/drawing/2014/main" id="{6EADAA1C-4C72-EBB1-FB62-89EF2599D0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44351" y="1317812"/>
            <a:ext cx="6360459" cy="25622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300"/>
              </a:spcAft>
            </a:pPr>
            <a:r>
              <a:rPr lang="en-US" altLang="en-US" sz="2800" b="1" dirty="0">
                <a:solidFill>
                  <a:srgbClr val="F8FAFF"/>
                </a:solidFill>
                <a:latin typeface="DeepSeek-CJK-patch"/>
              </a:rPr>
              <a:t>Feature Encoding:</a:t>
            </a:r>
          </a:p>
          <a:p>
            <a:pPr marL="742950" lvl="1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rgbClr val="F8FAFF"/>
                </a:solidFill>
                <a:latin typeface="DeepSeek-CJK-patch"/>
              </a:rPr>
              <a:t>Machine learning models require numerical data.</a:t>
            </a:r>
          </a:p>
          <a:p>
            <a:pPr marL="742950" lvl="1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rgbClr val="F8FAFF"/>
                </a:solidFill>
                <a:latin typeface="DeepSeek-CJK-patch"/>
              </a:rPr>
              <a:t>Categorical variables converted to numeric format using One Hot Encoding</a:t>
            </a:r>
          </a:p>
          <a:p>
            <a:pPr marL="742950" lvl="1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rgbClr val="F8FAFF"/>
                </a:solidFill>
                <a:latin typeface="DeepSeek-CJK-patch"/>
              </a:rPr>
              <a:t>Created new binary (0/1) columns for each category.</a:t>
            </a:r>
          </a:p>
          <a:p>
            <a:pPr marL="742950" lvl="1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rgbClr val="F8FAFF"/>
                </a:solidFill>
                <a:latin typeface="DeepSeek-CJK-patch"/>
              </a:rPr>
              <a:t>This allows machine learning algorithms to process categorical data.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944B9302-0811-91F2-FE90-90EEFE8746D9}"/>
              </a:ext>
            </a:extLst>
          </p:cNvPr>
          <p:cNvSpPr txBox="1">
            <a:spLocks/>
          </p:cNvSpPr>
          <p:nvPr/>
        </p:nvSpPr>
        <p:spPr>
          <a:xfrm>
            <a:off x="618744" y="6342888"/>
            <a:ext cx="2331720" cy="2743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b="0" i="0" kern="1200">
                <a:solidFill>
                  <a:schemeClr val="bg1"/>
                </a:solidFill>
                <a:latin typeface="+mn-lt"/>
                <a:ea typeface="+mn-ea"/>
                <a:cs typeface="Segoe UI Light" panose="020B0502040204020203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NextHikes</a:t>
            </a:r>
            <a:r>
              <a:rPr lang="en-US" dirty="0"/>
              <a:t> It Solutions</a:t>
            </a:r>
          </a:p>
        </p:txBody>
      </p:sp>
      <p:pic>
        <p:nvPicPr>
          <p:cNvPr id="8" name="Audio 7">
            <a:hlinkClick r:id="" action="ppaction://media"/>
            <a:extLst>
              <a:ext uri="{FF2B5EF4-FFF2-40B4-BE49-F238E27FC236}">
                <a16:creationId xmlns:a16="http://schemas.microsoft.com/office/drawing/2014/main" id="{21DECCEA-A540-F24F-9D26-D2BC080031C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262704" t="-125896" r="-262704" b="-125896"/>
          <a:stretch>
            <a:fillRect/>
          </a:stretch>
        </p:blipFill>
        <p:spPr>
          <a:xfrm>
            <a:off x="9144000" y="5143500"/>
            <a:ext cx="304800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124965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22497">
        <p15:prstTrans prst="pageCurlDouble"/>
      </p:transition>
    </mc:Choice>
    <mc:Fallback xmlns="">
      <p:transition spd="slow" advTm="22497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06F203-CAD3-FFE9-4CC4-569891F12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58231-AE92-C721-F92E-87318D48D7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6775" y="411480"/>
            <a:ext cx="6178117" cy="906332"/>
          </a:xfrm>
        </p:spPr>
        <p:txBody>
          <a:bodyPr/>
          <a:lstStyle/>
          <a:p>
            <a:pPr algn="ctr"/>
            <a:r>
              <a:rPr lang="en-IN" sz="4400" kern="0" spc="-94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itannic Bold" panose="020B0903060703020204" pitchFamily="34" charset="0"/>
                <a:ea typeface="Petrona Bold" pitchFamily="34" charset="-122"/>
              </a:rPr>
              <a:t>TRAIN TEST SPLIT</a:t>
            </a:r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54AA6C-FBAA-CF52-0888-65BCA9083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5342D5-907A-BCFA-A2B8-61ED2D828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16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1CCEFBC-4696-55AB-C77B-3EDE7229D1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4572000" cy="6858000"/>
          </a:xfrm>
          <a:prstGeom prst="rect">
            <a:avLst/>
          </a:prstGeom>
        </p:spPr>
      </p:pic>
      <p:sp>
        <p:nvSpPr>
          <p:cNvPr id="10" name="Rectangle 2">
            <a:extLst>
              <a:ext uri="{FF2B5EF4-FFF2-40B4-BE49-F238E27FC236}">
                <a16:creationId xmlns:a16="http://schemas.microsoft.com/office/drawing/2014/main" id="{CAF3A4AA-1AA0-B1CC-52AE-12F593E533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44351" y="1317812"/>
            <a:ext cx="6360459" cy="30700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300"/>
              </a:spcAft>
            </a:pPr>
            <a:r>
              <a:rPr lang="en-US" altLang="en-US" sz="2800" b="1" dirty="0">
                <a:solidFill>
                  <a:srgbClr val="F8FAFF"/>
                </a:solidFill>
                <a:latin typeface="DeepSeek-CJK-patch"/>
              </a:rPr>
              <a:t>Dataset split into training and testing sets:</a:t>
            </a:r>
          </a:p>
          <a:p>
            <a:pPr marL="742950" lvl="1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rgbClr val="F8FAFF"/>
                </a:solidFill>
                <a:latin typeface="DeepSeek-CJK-patch"/>
              </a:rPr>
              <a:t>Training Set (80%)</a:t>
            </a:r>
          </a:p>
          <a:p>
            <a:pPr marL="742950" lvl="1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rgbClr val="F8FAFF"/>
                </a:solidFill>
                <a:latin typeface="DeepSeek-CJK-patch"/>
              </a:rPr>
              <a:t>Testing Set (20%)</a:t>
            </a:r>
          </a:p>
          <a:p>
            <a:pPr marL="342900" indent="-34290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rgbClr val="F8FAFF"/>
                </a:solidFill>
                <a:latin typeface="DeepSeek-CJK-patch"/>
              </a:rPr>
              <a:t>Used </a:t>
            </a:r>
            <a:r>
              <a:rPr lang="en-US" altLang="en-US" sz="2000" dirty="0" err="1">
                <a:solidFill>
                  <a:srgbClr val="F8FAFF"/>
                </a:solidFill>
                <a:latin typeface="DeepSeek-CJK-patch"/>
              </a:rPr>
              <a:t>train_test_split</a:t>
            </a:r>
            <a:r>
              <a:rPr lang="en-US" altLang="en-US" sz="2000" dirty="0">
                <a:solidFill>
                  <a:srgbClr val="F8FAFF"/>
                </a:solidFill>
                <a:latin typeface="DeepSeek-CJK-patch"/>
              </a:rPr>
              <a:t> function.</a:t>
            </a:r>
          </a:p>
          <a:p>
            <a:pPr marL="342900" indent="-34290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rgbClr val="F8FAFF"/>
                </a:solidFill>
                <a:latin typeface="DeepSeek-CJK-patch"/>
              </a:rPr>
              <a:t>Training data used to train the model.</a:t>
            </a:r>
          </a:p>
          <a:p>
            <a:pPr marL="342900" indent="-34290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rgbClr val="F8FAFF"/>
                </a:solidFill>
                <a:latin typeface="DeepSeek-CJK-patch"/>
              </a:rPr>
              <a:t>Testing data used to evaluate model performance.</a:t>
            </a:r>
          </a:p>
          <a:p>
            <a:pPr marL="342900" indent="-34290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rgbClr val="F8FAFF"/>
                </a:solidFill>
                <a:latin typeface="DeepSeek-CJK-patch"/>
              </a:rPr>
              <a:t>This helps evaluate model performance on unseen data.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A9692E36-B0FD-E318-8671-FD8391D5E304}"/>
              </a:ext>
            </a:extLst>
          </p:cNvPr>
          <p:cNvSpPr txBox="1">
            <a:spLocks/>
          </p:cNvSpPr>
          <p:nvPr/>
        </p:nvSpPr>
        <p:spPr>
          <a:xfrm>
            <a:off x="618744" y="6342888"/>
            <a:ext cx="2331720" cy="2743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b="0" i="0" kern="1200">
                <a:solidFill>
                  <a:schemeClr val="bg1"/>
                </a:solidFill>
                <a:latin typeface="+mn-lt"/>
                <a:ea typeface="+mn-ea"/>
                <a:cs typeface="Segoe UI Light" panose="020B0502040204020203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NextHikes</a:t>
            </a:r>
            <a:r>
              <a:rPr lang="en-US" dirty="0"/>
              <a:t> It Solutions</a:t>
            </a:r>
          </a:p>
        </p:txBody>
      </p:sp>
      <p:pic>
        <p:nvPicPr>
          <p:cNvPr id="11" name="Audio 10">
            <a:hlinkClick r:id="" action="ppaction://media"/>
            <a:extLst>
              <a:ext uri="{FF2B5EF4-FFF2-40B4-BE49-F238E27FC236}">
                <a16:creationId xmlns:a16="http://schemas.microsoft.com/office/drawing/2014/main" id="{9632A253-F24F-4B8F-155C-138990AF01B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262704" t="-125896" r="-262704" b="-125896"/>
          <a:stretch>
            <a:fillRect/>
          </a:stretch>
        </p:blipFill>
        <p:spPr>
          <a:xfrm>
            <a:off x="9144000" y="5143500"/>
            <a:ext cx="304800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526375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28226">
        <p15:prstTrans prst="pageCurlDouble"/>
      </p:transition>
    </mc:Choice>
    <mc:Fallback xmlns="">
      <p:transition spd="slow" advTm="28226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F1ECF-FFAA-790C-E238-1DAB2270E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01F27-5261-78EB-C2F7-0FB3171CE9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6775" y="411480"/>
            <a:ext cx="6178117" cy="906332"/>
          </a:xfrm>
        </p:spPr>
        <p:txBody>
          <a:bodyPr/>
          <a:lstStyle/>
          <a:p>
            <a:pPr algn="ctr"/>
            <a:r>
              <a:rPr lang="en-IN" sz="4400" kern="0" spc="-94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itannic Bold" panose="020B0903060703020204" pitchFamily="34" charset="0"/>
                <a:ea typeface="Petrona Bold" pitchFamily="34" charset="-122"/>
              </a:rPr>
              <a:t>FEATURE SCALING</a:t>
            </a:r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6C63459-D53D-0926-1225-6D1061031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324163-B5B1-FA9B-EA35-369FCBCF9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17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BA63F39-4917-1920-C0C8-983ED2BE83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4572000" cy="6858000"/>
          </a:xfrm>
          <a:prstGeom prst="rect">
            <a:avLst/>
          </a:prstGeom>
        </p:spPr>
      </p:pic>
      <p:sp>
        <p:nvSpPr>
          <p:cNvPr id="10" name="Rectangle 2">
            <a:extLst>
              <a:ext uri="{FF2B5EF4-FFF2-40B4-BE49-F238E27FC236}">
                <a16:creationId xmlns:a16="http://schemas.microsoft.com/office/drawing/2014/main" id="{2BBD6B7A-3529-76F9-53B8-546427B022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44351" y="1317812"/>
            <a:ext cx="6360459" cy="26853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300"/>
              </a:spcAft>
            </a:pPr>
            <a:r>
              <a:rPr lang="en-US" altLang="en-US" sz="2400" dirty="0">
                <a:solidFill>
                  <a:srgbClr val="F8FAFF"/>
                </a:solidFill>
                <a:latin typeface="DeepSeek-CJK-patch"/>
              </a:rPr>
              <a:t>Applied </a:t>
            </a:r>
            <a:r>
              <a:rPr lang="en-US" altLang="en-US" sz="2400" dirty="0" err="1">
                <a:solidFill>
                  <a:srgbClr val="F8FAFF"/>
                </a:solidFill>
                <a:latin typeface="DeepSeek-CJK-patch"/>
              </a:rPr>
              <a:t>StandardScaler</a:t>
            </a:r>
            <a:r>
              <a:rPr lang="en-US" altLang="en-US" sz="2400" dirty="0">
                <a:solidFill>
                  <a:srgbClr val="F8FAFF"/>
                </a:solidFill>
                <a:latin typeface="DeepSeek-CJK-patch"/>
              </a:rPr>
              <a:t> to normalize numerical variables.</a:t>
            </a:r>
          </a:p>
          <a:p>
            <a:pPr>
              <a:spcAft>
                <a:spcPts val="300"/>
              </a:spcAft>
            </a:pPr>
            <a:r>
              <a:rPr lang="en-US" altLang="en-US" sz="2800" b="1" dirty="0">
                <a:solidFill>
                  <a:srgbClr val="F8FAFF"/>
                </a:solidFill>
                <a:latin typeface="DeepSeek-CJK-patch"/>
              </a:rPr>
              <a:t>Applied </a:t>
            </a:r>
            <a:r>
              <a:rPr lang="en-US" altLang="en-US" sz="2800" b="1" dirty="0" err="1">
                <a:solidFill>
                  <a:srgbClr val="F8FAFF"/>
                </a:solidFill>
                <a:latin typeface="DeepSeek-CJK-patch"/>
              </a:rPr>
              <a:t>StandardScaler</a:t>
            </a:r>
            <a:r>
              <a:rPr lang="en-US" altLang="en-US" sz="2800" b="1" dirty="0">
                <a:solidFill>
                  <a:srgbClr val="F8FAFF"/>
                </a:solidFill>
                <a:latin typeface="DeepSeek-CJK-patch"/>
              </a:rPr>
              <a:t>:</a:t>
            </a:r>
          </a:p>
          <a:p>
            <a:pPr marL="742950" lvl="1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rgbClr val="F8FAFF"/>
                </a:solidFill>
                <a:latin typeface="DeepSeek-CJK-patch"/>
              </a:rPr>
              <a:t>Mean= 0</a:t>
            </a:r>
          </a:p>
          <a:p>
            <a:pPr marL="742950" lvl="1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rgbClr val="F8FAFF"/>
                </a:solidFill>
                <a:latin typeface="DeepSeek-CJK-patch"/>
              </a:rPr>
              <a:t>Standard Deviation= 1</a:t>
            </a:r>
          </a:p>
          <a:p>
            <a:pPr marL="342900" indent="-34290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rgbClr val="F8FAFF"/>
                </a:solidFill>
                <a:latin typeface="DeepSeek-CJK-patch"/>
              </a:rPr>
              <a:t>This ensures features have similar scale for model training.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3E095D6E-6D49-D718-A26F-A58F992C3D93}"/>
              </a:ext>
            </a:extLst>
          </p:cNvPr>
          <p:cNvSpPr txBox="1">
            <a:spLocks/>
          </p:cNvSpPr>
          <p:nvPr/>
        </p:nvSpPr>
        <p:spPr>
          <a:xfrm>
            <a:off x="618744" y="6342888"/>
            <a:ext cx="2331720" cy="2743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b="0" i="0" kern="1200">
                <a:solidFill>
                  <a:schemeClr val="bg1"/>
                </a:solidFill>
                <a:latin typeface="+mn-lt"/>
                <a:ea typeface="+mn-ea"/>
                <a:cs typeface="Segoe UI Light" panose="020B0502040204020203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NextHikes</a:t>
            </a:r>
            <a:r>
              <a:rPr lang="en-US" dirty="0"/>
              <a:t> It Solutions</a:t>
            </a:r>
          </a:p>
        </p:txBody>
      </p:sp>
      <p:pic>
        <p:nvPicPr>
          <p:cNvPr id="7" name="Audio 6">
            <a:hlinkClick r:id="" action="ppaction://media"/>
            <a:extLst>
              <a:ext uri="{FF2B5EF4-FFF2-40B4-BE49-F238E27FC236}">
                <a16:creationId xmlns:a16="http://schemas.microsoft.com/office/drawing/2014/main" id="{5D58E853-7E35-78FF-F239-45F6D4ADC59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262704" t="-125896" r="-262704" b="-125896"/>
          <a:stretch>
            <a:fillRect/>
          </a:stretch>
        </p:blipFill>
        <p:spPr>
          <a:xfrm>
            <a:off x="9144000" y="5143500"/>
            <a:ext cx="304800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78644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28298">
        <p15:prstTrans prst="pageCurlDouble"/>
      </p:transition>
    </mc:Choice>
    <mc:Fallback xmlns="">
      <p:transition spd="slow" advTm="28298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E216FE-102C-7BA2-7951-E1D5137DCF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0BFE2-AF38-61A4-D6DE-49AB1E312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6775" y="411480"/>
            <a:ext cx="6178117" cy="906332"/>
          </a:xfrm>
        </p:spPr>
        <p:txBody>
          <a:bodyPr/>
          <a:lstStyle/>
          <a:p>
            <a:pPr algn="ctr"/>
            <a:r>
              <a:rPr lang="en-IN" sz="4400" kern="0" spc="-94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itannic Bold" panose="020B0903060703020204" pitchFamily="34" charset="0"/>
                <a:ea typeface="Petrona Bold" pitchFamily="34" charset="-122"/>
              </a:rPr>
              <a:t>MODEL BUILDING</a:t>
            </a:r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9666C1-8CBD-BEAE-D762-547C14414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EC8DC2-24A6-B19B-1A1A-A01CD3DA7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18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56433FB-CF76-6137-4813-853BE9740A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4572000" cy="6858000"/>
          </a:xfrm>
          <a:prstGeom prst="rect">
            <a:avLst/>
          </a:prstGeom>
        </p:spPr>
      </p:pic>
      <p:sp>
        <p:nvSpPr>
          <p:cNvPr id="10" name="Rectangle 2">
            <a:extLst>
              <a:ext uri="{FF2B5EF4-FFF2-40B4-BE49-F238E27FC236}">
                <a16:creationId xmlns:a16="http://schemas.microsoft.com/office/drawing/2014/main" id="{7139A1C3-A74A-E245-B43F-799369AEB4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44351" y="1317812"/>
            <a:ext cx="6360459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300"/>
              </a:spcAft>
            </a:pPr>
            <a:r>
              <a:rPr lang="en-US" altLang="en-US" sz="2400" dirty="0">
                <a:solidFill>
                  <a:srgbClr val="F8FAFF"/>
                </a:solidFill>
                <a:latin typeface="DeepSeek-CJK-patch"/>
              </a:rPr>
              <a:t>Built </a:t>
            </a:r>
            <a:r>
              <a:rPr lang="en-IN" altLang="en-US" sz="2400" dirty="0">
                <a:solidFill>
                  <a:srgbClr val="F8FAFF"/>
                </a:solidFill>
                <a:latin typeface="DeepSeek-CJK-patch"/>
              </a:rPr>
              <a:t>machine learning models to predict Prize</a:t>
            </a:r>
            <a:r>
              <a:rPr lang="en-US" altLang="en-US" sz="2400" dirty="0">
                <a:solidFill>
                  <a:srgbClr val="F8FAFF"/>
                </a:solidFill>
                <a:latin typeface="DeepSeek-CJK-patch"/>
              </a:rPr>
              <a:t>.</a:t>
            </a:r>
          </a:p>
          <a:p>
            <a:pPr>
              <a:spcAft>
                <a:spcPts val="300"/>
              </a:spcAft>
            </a:pPr>
            <a:r>
              <a:rPr lang="en-US" altLang="en-US" sz="2800" b="1" dirty="0">
                <a:solidFill>
                  <a:srgbClr val="F8FAFF"/>
                </a:solidFill>
                <a:latin typeface="DeepSeek-CJK-patch"/>
              </a:rPr>
              <a:t>Models used:</a:t>
            </a:r>
          </a:p>
          <a:p>
            <a:pPr marL="742950" lvl="1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rgbClr val="F8FAFF"/>
                </a:solidFill>
                <a:latin typeface="DeepSeek-CJK-patch"/>
              </a:rPr>
              <a:t>Linear Regression</a:t>
            </a:r>
          </a:p>
          <a:p>
            <a:pPr marL="742950" lvl="1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rgbClr val="F8FAFF"/>
                </a:solidFill>
                <a:latin typeface="DeepSeek-CJK-patch"/>
              </a:rPr>
              <a:t>Random Forest Regressor</a:t>
            </a:r>
          </a:p>
          <a:p>
            <a:pPr marL="342900" indent="-34290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rgbClr val="F8FAFF"/>
                </a:solidFill>
                <a:latin typeface="DeepSeek-CJK-patch"/>
              </a:rPr>
              <a:t>Trained models using training data.</a:t>
            </a:r>
          </a:p>
          <a:p>
            <a:pPr>
              <a:spcBef>
                <a:spcPts val="300"/>
              </a:spcBef>
            </a:pPr>
            <a:endParaRPr lang="en-US" altLang="en-US" sz="2000" dirty="0">
              <a:solidFill>
                <a:srgbClr val="F8FAFF"/>
              </a:solidFill>
              <a:latin typeface="DeepSeek-CJK-patch"/>
            </a:endParaRPr>
          </a:p>
          <a:p>
            <a:pPr>
              <a:spcBef>
                <a:spcPts val="300"/>
              </a:spcBef>
            </a:pPr>
            <a:r>
              <a:rPr lang="en-US" altLang="en-US" sz="2800" b="1" dirty="0">
                <a:solidFill>
                  <a:srgbClr val="F8FAFF"/>
                </a:solidFill>
                <a:latin typeface="DeepSeek-CJK-patch"/>
              </a:rPr>
              <a:t>Goal:</a:t>
            </a:r>
          </a:p>
          <a:p>
            <a:pPr marL="914400" lvl="1" indent="-45720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rgbClr val="F8FAFF"/>
                </a:solidFill>
                <a:latin typeface="DeepSeek-CJK-patch"/>
              </a:rPr>
              <a:t>Predict mobile phone prices.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4B0E5BF6-2BE7-93F4-5266-B5E968F6D3DB}"/>
              </a:ext>
            </a:extLst>
          </p:cNvPr>
          <p:cNvSpPr txBox="1">
            <a:spLocks/>
          </p:cNvSpPr>
          <p:nvPr/>
        </p:nvSpPr>
        <p:spPr>
          <a:xfrm>
            <a:off x="618744" y="6342888"/>
            <a:ext cx="2331720" cy="2743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b="0" i="0" kern="1200">
                <a:solidFill>
                  <a:schemeClr val="bg1"/>
                </a:solidFill>
                <a:latin typeface="+mn-lt"/>
                <a:ea typeface="+mn-ea"/>
                <a:cs typeface="Segoe UI Light" panose="020B0502040204020203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NextHikes</a:t>
            </a:r>
            <a:r>
              <a:rPr lang="en-US" dirty="0"/>
              <a:t> It Solutions</a:t>
            </a:r>
          </a:p>
        </p:txBody>
      </p:sp>
      <p:pic>
        <p:nvPicPr>
          <p:cNvPr id="9" name="Audio 8">
            <a:hlinkClick r:id="" action="ppaction://media"/>
            <a:extLst>
              <a:ext uri="{FF2B5EF4-FFF2-40B4-BE49-F238E27FC236}">
                <a16:creationId xmlns:a16="http://schemas.microsoft.com/office/drawing/2014/main" id="{8D60470B-C724-056C-E45F-AC931109156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262704" t="-125896" r="-262704" b="-125896"/>
          <a:stretch>
            <a:fillRect/>
          </a:stretch>
        </p:blipFill>
        <p:spPr>
          <a:xfrm>
            <a:off x="9144000" y="5143500"/>
            <a:ext cx="304800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568939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29928">
        <p15:prstTrans prst="pageCurlDouble"/>
      </p:transition>
    </mc:Choice>
    <mc:Fallback xmlns="">
      <p:transition spd="slow" advTm="29928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9094A-928E-A062-1AE9-A69CC5F208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392" y="171048"/>
            <a:ext cx="5510067" cy="641693"/>
          </a:xfrm>
        </p:spPr>
        <p:txBody>
          <a:bodyPr/>
          <a:lstStyle/>
          <a:p>
            <a:r>
              <a:rPr lang="en-IN" sz="4400" kern="0" spc="-94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itannic Bold" panose="020B0903060703020204" pitchFamily="34" charset="0"/>
                <a:ea typeface="Petrona Bold" pitchFamily="34" charset="-122"/>
              </a:rPr>
              <a:t>Model Evaluation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141119-86E6-CEB2-14F3-EBFD384D4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19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2ED54B-DAF9-609C-26B3-1D0A216B3B32}"/>
              </a:ext>
            </a:extLst>
          </p:cNvPr>
          <p:cNvSpPr txBox="1"/>
          <p:nvPr/>
        </p:nvSpPr>
        <p:spPr>
          <a:xfrm>
            <a:off x="1116106" y="812742"/>
            <a:ext cx="4652682" cy="587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Model evaluated using</a:t>
            </a:r>
            <a:r>
              <a:rPr lang="en-IN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Linear Regression R2 Score- </a:t>
            </a:r>
            <a:r>
              <a:rPr lang="en-IN" dirty="0">
                <a:solidFill>
                  <a:schemeClr val="bg1"/>
                </a:solidFill>
              </a:rPr>
              <a:t>0.936841257671227</a:t>
            </a: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Linear Regression Mean Absolute Error (MAE)- </a:t>
            </a:r>
            <a:r>
              <a:rPr lang="en-IN" dirty="0">
                <a:solidFill>
                  <a:schemeClr val="bg1"/>
                </a:solidFill>
              </a:rPr>
              <a:t>1420.3176869716235</a:t>
            </a: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Linear Regression Mean Squared Error (MSE)- </a:t>
            </a:r>
            <a:r>
              <a:rPr lang="en-IN" dirty="0">
                <a:solidFill>
                  <a:schemeClr val="bg1"/>
                </a:solidFill>
              </a:rPr>
              <a:t>4690732.723226762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Random Forest R2 Score- 0.8616470795008602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Random Forest MAE: 1692.9403878504675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Random Forest MSE: 10275324.485738747</a:t>
            </a:r>
            <a:endParaRPr lang="en-US" dirty="0"/>
          </a:p>
          <a:p>
            <a:endParaRPr lang="en-US" dirty="0"/>
          </a:p>
          <a:p>
            <a:r>
              <a:rPr lang="en-IN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Compared performance of: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bg1"/>
                </a:solidFill>
              </a:rPr>
              <a:t>Linear Regression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bg1"/>
                </a:solidFill>
              </a:rPr>
              <a:t>Random Forest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bg1"/>
                </a:solidFill>
              </a:rPr>
              <a:t>Linear Regression achieved higher R2 Score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bg1"/>
                </a:solidFill>
              </a:rPr>
              <a:t>Selected as the best model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A236726E-9028-2891-F6DD-0359FA05973A}"/>
              </a:ext>
            </a:extLst>
          </p:cNvPr>
          <p:cNvSpPr txBox="1">
            <a:spLocks/>
          </p:cNvSpPr>
          <p:nvPr/>
        </p:nvSpPr>
        <p:spPr>
          <a:xfrm>
            <a:off x="618744" y="6342888"/>
            <a:ext cx="2331720" cy="2743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b="0" i="0" kern="1200">
                <a:solidFill>
                  <a:schemeClr val="bg1"/>
                </a:solidFill>
                <a:latin typeface="+mn-lt"/>
                <a:ea typeface="+mn-ea"/>
                <a:cs typeface="Segoe UI Light" panose="020B0502040204020203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NextHikes</a:t>
            </a:r>
            <a:r>
              <a:rPr lang="en-US" dirty="0"/>
              <a:t> It Solutions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1B5759B-3CC5-11CA-D8E4-3890325085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1668" y="376385"/>
            <a:ext cx="4963138" cy="304414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E694FE8-FE4F-5DF2-C2A2-A840B16015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2076" y="3642807"/>
            <a:ext cx="4942729" cy="3044146"/>
          </a:xfrm>
          <a:prstGeom prst="rect">
            <a:avLst/>
          </a:prstGeom>
        </p:spPr>
      </p:pic>
      <p:pic>
        <p:nvPicPr>
          <p:cNvPr id="16" name="Audio 15">
            <a:hlinkClick r:id="" action="ppaction://media"/>
            <a:extLst>
              <a:ext uri="{FF2B5EF4-FFF2-40B4-BE49-F238E27FC236}">
                <a16:creationId xmlns:a16="http://schemas.microsoft.com/office/drawing/2014/main" id="{417FE521-498C-CD5E-2AB6-2D604D9447A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262704" t="-125896" r="-262704" b="-125896"/>
          <a:stretch>
            <a:fillRect/>
          </a:stretch>
        </p:blipFill>
        <p:spPr>
          <a:xfrm>
            <a:off x="9144000" y="5143500"/>
            <a:ext cx="304800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93986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27997">
        <p15:prstTrans prst="pageCurlDouble"/>
      </p:transition>
    </mc:Choice>
    <mc:Fallback xmlns="">
      <p:transition spd="slow" advTm="27997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6"/>
                </p:tgtEl>
              </p:cMediaNode>
            </p:audio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3248B5-B84F-AEFB-0F51-CFC68BE38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20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1B5FD8D-958B-043B-19BB-4A13B7248E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392" y="393192"/>
            <a:ext cx="5859182" cy="1069975"/>
          </a:xfrm>
        </p:spPr>
        <p:txBody>
          <a:bodyPr/>
          <a:lstStyle/>
          <a:p>
            <a:br>
              <a:rPr lang="en-IN" sz="4400" kern="0" spc="-94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itannic Bold" panose="020B0903060703020204" pitchFamily="34" charset="0"/>
                <a:ea typeface="Petrona Bold" pitchFamily="34" charset="-122"/>
              </a:rPr>
            </a:br>
            <a:r>
              <a:rPr lang="en-IN" sz="4400" kern="0" spc="-94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itannic Bold" panose="020B0903060703020204" pitchFamily="34" charset="0"/>
                <a:ea typeface="Petrona Bold" pitchFamily="34" charset="-122"/>
              </a:rPr>
              <a:t>Feature Importance</a:t>
            </a:r>
            <a:br>
              <a:rPr lang="en-IN" b="1" i="0" dirty="0">
                <a:solidFill>
                  <a:srgbClr val="F8FAFF"/>
                </a:solidFill>
                <a:effectLst/>
                <a:latin typeface="DeepSeek-CJK-patch"/>
              </a:rPr>
            </a:b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E867516-27D5-205A-D6F1-06AE9D31AAE1}"/>
              </a:ext>
            </a:extLst>
          </p:cNvPr>
          <p:cNvSpPr txBox="1"/>
          <p:nvPr/>
        </p:nvSpPr>
        <p:spPr>
          <a:xfrm>
            <a:off x="850393" y="1290918"/>
            <a:ext cx="4915926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spcAft>
                <a:spcPts val="300"/>
              </a:spcAft>
              <a:defRPr sz="2800" b="1">
                <a:solidFill>
                  <a:srgbClr val="F8FAFF"/>
                </a:solidFill>
                <a:latin typeface="DeepSeek-CJK-patch"/>
              </a:defRPr>
            </a:lvl1pPr>
            <a:lvl2pPr marL="742950" lvl="1" indent="-285750">
              <a:spcBef>
                <a:spcPts val="300"/>
              </a:spcBef>
              <a:buFont typeface="Arial" panose="020B0604020202020204" pitchFamily="34" charset="0"/>
              <a:buChar char="•"/>
              <a:defRPr sz="2000">
                <a:solidFill>
                  <a:srgbClr val="F8FAFF"/>
                </a:solidFill>
                <a:latin typeface="DeepSeek-CJK-patch"/>
              </a:defRPr>
            </a:lvl2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/>
              <a:t>Random Forest model used to calculate feature importance.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/>
              <a:t>Identifies most important features affecting prize.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/>
              <a:t>Each feature assigned an importance score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/>
              <a:t>Higher Score</a:t>
            </a:r>
            <a:r>
              <a:rPr lang="en-US" sz="2600" dirty="0">
                <a:sym typeface="Wingdings" panose="05000000000000000000" pitchFamily="2" charset="2"/>
              </a:rPr>
              <a:t> greater impact on price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>
                <a:sym typeface="Wingdings" panose="05000000000000000000" pitchFamily="2" charset="2"/>
              </a:rPr>
              <a:t>This helps identify which features most influence price</a:t>
            </a:r>
            <a:endParaRPr lang="en-IN" sz="2600" dirty="0"/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D6C485EE-E724-70C2-D6CF-B23079E560FE}"/>
              </a:ext>
            </a:extLst>
          </p:cNvPr>
          <p:cNvSpPr txBox="1">
            <a:spLocks/>
          </p:cNvSpPr>
          <p:nvPr/>
        </p:nvSpPr>
        <p:spPr>
          <a:xfrm>
            <a:off x="618744" y="6342888"/>
            <a:ext cx="2331720" cy="2743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b="0" i="0" kern="1200">
                <a:solidFill>
                  <a:schemeClr val="bg1"/>
                </a:solidFill>
                <a:latin typeface="+mn-lt"/>
                <a:ea typeface="+mn-ea"/>
                <a:cs typeface="Segoe UI Light" panose="020B0502040204020203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NextHikes</a:t>
            </a:r>
            <a:r>
              <a:rPr lang="en-US" dirty="0"/>
              <a:t> It Solutions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79964D5-D340-CF0D-5EC1-9207858C9E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6319" y="1290919"/>
            <a:ext cx="6335485" cy="5051970"/>
          </a:xfrm>
          <a:prstGeom prst="rect">
            <a:avLst/>
          </a:prstGeom>
        </p:spPr>
      </p:pic>
      <p:pic>
        <p:nvPicPr>
          <p:cNvPr id="9" name="Audio 8">
            <a:hlinkClick r:id="" action="ppaction://media"/>
            <a:extLst>
              <a:ext uri="{FF2B5EF4-FFF2-40B4-BE49-F238E27FC236}">
                <a16:creationId xmlns:a16="http://schemas.microsoft.com/office/drawing/2014/main" id="{25719BCE-8126-99B2-8C63-0D0AB6454E3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262704" t="-125896" r="-262704" b="-125896"/>
          <a:stretch>
            <a:fillRect/>
          </a:stretch>
        </p:blipFill>
        <p:spPr>
          <a:xfrm>
            <a:off x="9144000" y="5143500"/>
            <a:ext cx="304800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118252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21472">
        <p15:prstTrans prst="pageCurlDouble"/>
      </p:transition>
    </mc:Choice>
    <mc:Fallback xmlns="">
      <p:transition spd="slow" advTm="21472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88656-7DB8-DE16-6522-0A0B354EF5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5863" y="32004"/>
            <a:ext cx="5644537" cy="1069848"/>
          </a:xfrm>
        </p:spPr>
        <p:txBody>
          <a:bodyPr/>
          <a:lstStyle/>
          <a:p>
            <a:pPr algn="ctr"/>
            <a:r>
              <a:rPr lang="en-IN" sz="4400" kern="0" spc="-94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itannic Bold" panose="020B0903060703020204" pitchFamily="34" charset="0"/>
                <a:ea typeface="Petrona Bold" pitchFamily="34" charset="-122"/>
              </a:rPr>
              <a:t>Model Comparison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4C5C04-E267-15CC-5028-65B2CE63EE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9E9E47-D9F4-C60B-1864-F5CA97AA4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21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E649C4B-8EC3-703B-CBB9-93B9B0866C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26894"/>
            <a:ext cx="457200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0244317-779B-659A-48D3-453EA5851699}"/>
              </a:ext>
            </a:extLst>
          </p:cNvPr>
          <p:cNvSpPr txBox="1"/>
          <p:nvPr/>
        </p:nvSpPr>
        <p:spPr>
          <a:xfrm>
            <a:off x="5269992" y="1101852"/>
            <a:ext cx="5850725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Performance Metrics (R2 Score):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R2 Score- </a:t>
            </a:r>
            <a:r>
              <a:rPr lang="en-IN" sz="2000" b="1" dirty="0">
                <a:solidFill>
                  <a:schemeClr val="bg1"/>
                </a:solidFill>
              </a:rPr>
              <a:t>0.936841257671227</a:t>
            </a:r>
            <a:endParaRPr lang="en-US" sz="2000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Mean Absolute Error (MAE)- </a:t>
            </a:r>
            <a:r>
              <a:rPr lang="en-IN" sz="2000" dirty="0">
                <a:solidFill>
                  <a:schemeClr val="bg1"/>
                </a:solidFill>
              </a:rPr>
              <a:t>1420.3176869716235</a:t>
            </a:r>
            <a:endParaRPr lang="en-US" sz="20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Mean Squared Error (MSE)- </a:t>
            </a:r>
            <a:r>
              <a:rPr lang="en-IN" sz="2000" dirty="0">
                <a:solidFill>
                  <a:schemeClr val="bg1"/>
                </a:solidFill>
              </a:rPr>
              <a:t>4690732.723226762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</a:rPr>
              <a:t>Random Forest R2 Score- 0.8616470795008602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</a:rPr>
              <a:t>Random Forest MAE: 1692.9403878504675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</a:rPr>
              <a:t>Random Forest MSE: 10275324.485738747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r>
              <a:rPr 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Why Linear Regression?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Achieved higher R2 score compared to Random Forest.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Shows strong linear relationship between features and price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Simple and easy to interpret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Less risk of overfitting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Performs well on this dataset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A4668ECC-B19A-54EB-FC6C-6F8F689B0D0E}"/>
              </a:ext>
            </a:extLst>
          </p:cNvPr>
          <p:cNvSpPr txBox="1">
            <a:spLocks/>
          </p:cNvSpPr>
          <p:nvPr/>
        </p:nvSpPr>
        <p:spPr>
          <a:xfrm>
            <a:off x="618744" y="6342888"/>
            <a:ext cx="2331720" cy="2743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b="0" i="0" kern="1200">
                <a:solidFill>
                  <a:schemeClr val="bg1"/>
                </a:solidFill>
                <a:latin typeface="+mn-lt"/>
                <a:ea typeface="+mn-ea"/>
                <a:cs typeface="Segoe UI Light" panose="020B0502040204020203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NextHikes</a:t>
            </a:r>
            <a:r>
              <a:rPr lang="en-US" dirty="0"/>
              <a:t> It Solutions</a:t>
            </a:r>
          </a:p>
        </p:txBody>
      </p:sp>
      <p:pic>
        <p:nvPicPr>
          <p:cNvPr id="9" name="Audio 8">
            <a:hlinkClick r:id="" action="ppaction://media"/>
            <a:extLst>
              <a:ext uri="{FF2B5EF4-FFF2-40B4-BE49-F238E27FC236}">
                <a16:creationId xmlns:a16="http://schemas.microsoft.com/office/drawing/2014/main" id="{D4B9AFAD-07D3-5BFD-9B36-9B8657F5F07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262704" t="-125896" r="-262704" b="-125896"/>
          <a:stretch>
            <a:fillRect/>
          </a:stretch>
        </p:blipFill>
        <p:spPr>
          <a:xfrm>
            <a:off x="9144000" y="5143500"/>
            <a:ext cx="304800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809464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25378">
        <p15:prstTrans prst="pageCurlDouble"/>
      </p:transition>
    </mc:Choice>
    <mc:Fallback xmlns="">
      <p:transition spd="slow" advTm="25378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D7774F-0222-84A9-B82C-C7B6B8F34D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7BE5C-0C52-460D-E8A7-2DB528DD7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5863" y="32004"/>
            <a:ext cx="5644537" cy="1069848"/>
          </a:xfrm>
        </p:spPr>
        <p:txBody>
          <a:bodyPr/>
          <a:lstStyle/>
          <a:p>
            <a:pPr algn="ctr"/>
            <a:r>
              <a:rPr lang="en-IN" sz="4400" kern="0" spc="-94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itannic Bold" panose="020B0903060703020204" pitchFamily="34" charset="0"/>
                <a:ea typeface="Petrona Bold" pitchFamily="34" charset="-122"/>
              </a:rPr>
              <a:t>VISUALIZATION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D4135D-24A4-AA9C-763F-E37649C41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E8323F-404B-A9CC-27A0-8CC296204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22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DB010B7-8365-9B9B-C630-7F168F3F12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26894"/>
            <a:ext cx="457200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6DB3466-EC4D-737D-94BE-114C2BDE5E4D}"/>
              </a:ext>
            </a:extLst>
          </p:cNvPr>
          <p:cNvSpPr txBox="1"/>
          <p:nvPr/>
        </p:nvSpPr>
        <p:spPr>
          <a:xfrm>
            <a:off x="5269992" y="1101852"/>
            <a:ext cx="5850725" cy="458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Used Visualizations to understand data and model performance: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/>
                </a:solidFill>
              </a:rPr>
              <a:t>Correlation Heatmap</a:t>
            </a:r>
            <a:endParaRPr lang="en-US" sz="2800" b="1" dirty="0">
              <a:solidFill>
                <a:schemeClr val="bg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/>
                </a:solidFill>
              </a:rPr>
              <a:t>Feature Importance Plot</a:t>
            </a:r>
            <a:endParaRPr lang="en-US" sz="2800" dirty="0">
              <a:solidFill>
                <a:schemeClr val="bg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/>
                </a:solidFill>
              </a:rPr>
              <a:t>Actual vs Predicted Plot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/>
                </a:solidFill>
              </a:rPr>
              <a:t>Residual Plot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/>
                </a:solidFill>
              </a:rPr>
              <a:t>Actual vs Predicted Line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/>
                </a:solidFill>
              </a:rPr>
              <a:t>Helps in better understanding and interpretation of results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9FB8C918-A2A0-0DF7-05E1-E13A6A50C5FD}"/>
              </a:ext>
            </a:extLst>
          </p:cNvPr>
          <p:cNvSpPr txBox="1">
            <a:spLocks/>
          </p:cNvSpPr>
          <p:nvPr/>
        </p:nvSpPr>
        <p:spPr>
          <a:xfrm>
            <a:off x="618744" y="6342888"/>
            <a:ext cx="2331720" cy="2743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b="0" i="0" kern="1200">
                <a:solidFill>
                  <a:schemeClr val="bg1"/>
                </a:solidFill>
                <a:latin typeface="+mn-lt"/>
                <a:ea typeface="+mn-ea"/>
                <a:cs typeface="Segoe UI Light" panose="020B0502040204020203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NextHikes</a:t>
            </a:r>
            <a:r>
              <a:rPr lang="en-US" dirty="0"/>
              <a:t> It Solutions</a:t>
            </a:r>
          </a:p>
        </p:txBody>
      </p:sp>
      <p:pic>
        <p:nvPicPr>
          <p:cNvPr id="11" name="Audio 10">
            <a:hlinkClick r:id="" action="ppaction://media"/>
            <a:extLst>
              <a:ext uri="{FF2B5EF4-FFF2-40B4-BE49-F238E27FC236}">
                <a16:creationId xmlns:a16="http://schemas.microsoft.com/office/drawing/2014/main" id="{EE6D1445-85E9-551A-8ADB-8E408059B29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262704" t="-125896" r="-262704" b="-125896"/>
          <a:stretch>
            <a:fillRect/>
          </a:stretch>
        </p:blipFill>
        <p:spPr>
          <a:xfrm>
            <a:off x="9144000" y="5143500"/>
            <a:ext cx="304800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8280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14291">
        <p15:prstTrans prst="pageCurlDouble"/>
      </p:transition>
    </mc:Choice>
    <mc:Fallback xmlns="">
      <p:transition spd="slow" advTm="1429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542B7-60FF-BF7D-F7BA-815045B457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1CB771-A9A6-58A2-B35F-606E3CCEB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23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6C3ED96-DCE8-8DA6-7E65-7649C4570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391" y="393192"/>
            <a:ext cx="5895641" cy="1069975"/>
          </a:xfrm>
        </p:spPr>
        <p:txBody>
          <a:bodyPr/>
          <a:lstStyle/>
          <a:p>
            <a:br>
              <a:rPr lang="en-IN" sz="4400" kern="0" spc="-94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itannic Bold" panose="020B0903060703020204" pitchFamily="34" charset="0"/>
                <a:ea typeface="Petrona Bold" pitchFamily="34" charset="-122"/>
              </a:rPr>
            </a:br>
            <a:r>
              <a:rPr lang="en-IN" sz="4400" kern="0" spc="-94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itannic Bold" panose="020B0903060703020204" pitchFamily="34" charset="0"/>
                <a:ea typeface="Petrona Bold" pitchFamily="34" charset="-122"/>
              </a:rPr>
              <a:t>CORRELATION </a:t>
            </a:r>
            <a:r>
              <a:rPr lang="en-IN" sz="4400" kern="0" spc="-94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itannic Bold" panose="020B0903060703020204" pitchFamily="34" charset="0"/>
                <a:ea typeface="Petrona Bold" pitchFamily="34" charset="-122"/>
              </a:rPr>
              <a:t>hEATMAP</a:t>
            </a:r>
            <a:br>
              <a:rPr lang="en-IN" b="1" i="0" dirty="0">
                <a:solidFill>
                  <a:srgbClr val="F8FAFF"/>
                </a:solidFill>
                <a:effectLst/>
                <a:latin typeface="DeepSeek-CJK-patch"/>
              </a:rPr>
            </a:b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FC623D-D126-8733-64AC-FAE633357F3C}"/>
              </a:ext>
            </a:extLst>
          </p:cNvPr>
          <p:cNvSpPr txBox="1"/>
          <p:nvPr/>
        </p:nvSpPr>
        <p:spPr>
          <a:xfrm>
            <a:off x="850393" y="1290918"/>
            <a:ext cx="491592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spcAft>
                <a:spcPts val="300"/>
              </a:spcAft>
              <a:defRPr sz="2800" b="1">
                <a:solidFill>
                  <a:srgbClr val="F8FAFF"/>
                </a:solidFill>
                <a:latin typeface="DeepSeek-CJK-patch"/>
              </a:defRPr>
            </a:lvl1pPr>
            <a:lvl2pPr marL="742950" lvl="1" indent="-285750">
              <a:spcBef>
                <a:spcPts val="300"/>
              </a:spcBef>
              <a:buFont typeface="Arial" panose="020B0604020202020204" pitchFamily="34" charset="0"/>
              <a:buChar char="•"/>
              <a:defRPr sz="2000">
                <a:solidFill>
                  <a:srgbClr val="F8FAFF"/>
                </a:solidFill>
                <a:latin typeface="DeepSeek-CJK-patch"/>
              </a:defRPr>
            </a:lvl2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A correlation matrix was created to analyze the relationships between numerical variables in the dataset.</a:t>
            </a:r>
            <a:r>
              <a:rPr lang="en-US" sz="2400" b="0" dirty="0"/>
              <a:t> </a:t>
            </a:r>
            <a:r>
              <a:rPr lang="en-US" sz="2400" dirty="0"/>
              <a:t>Since correlation can only be calculated for numeric data, only numerical features were selected for this analysis.</a:t>
            </a:r>
            <a:r>
              <a:rPr lang="en-US" sz="2400" b="0" dirty="0"/>
              <a:t> </a:t>
            </a:r>
            <a:r>
              <a:rPr lang="en-US" sz="2400" dirty="0"/>
              <a:t>The heatmap visualization helps identify variables that have strong positive or negative relationships with the target variable (Prize).</a:t>
            </a:r>
            <a:endParaRPr lang="en-IN" sz="2400" dirty="0"/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66478585-30E9-66DB-C830-EE9FFEB64088}"/>
              </a:ext>
            </a:extLst>
          </p:cNvPr>
          <p:cNvSpPr txBox="1">
            <a:spLocks/>
          </p:cNvSpPr>
          <p:nvPr/>
        </p:nvSpPr>
        <p:spPr>
          <a:xfrm>
            <a:off x="618744" y="6342888"/>
            <a:ext cx="2331720" cy="2743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b="0" i="0" kern="1200">
                <a:solidFill>
                  <a:schemeClr val="bg1"/>
                </a:solidFill>
                <a:latin typeface="+mn-lt"/>
                <a:ea typeface="+mn-ea"/>
                <a:cs typeface="Segoe UI Light" panose="020B0502040204020203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NextHikes</a:t>
            </a:r>
            <a:r>
              <a:rPr lang="en-US" dirty="0"/>
              <a:t> It Solutions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6F7B1D5-BA5B-B08A-0DAD-79DA379424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6318" y="1290918"/>
            <a:ext cx="6335486" cy="5051970"/>
          </a:xfrm>
          <a:prstGeom prst="rect">
            <a:avLst/>
          </a:prstGeom>
        </p:spPr>
      </p:pic>
      <p:pic>
        <p:nvPicPr>
          <p:cNvPr id="10" name="Audio 9">
            <a:hlinkClick r:id="" action="ppaction://media"/>
            <a:extLst>
              <a:ext uri="{FF2B5EF4-FFF2-40B4-BE49-F238E27FC236}">
                <a16:creationId xmlns:a16="http://schemas.microsoft.com/office/drawing/2014/main" id="{EC0247F6-C4FE-7955-DE2A-F945DB1A789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262704" t="-125896" r="-262704" b="-125896"/>
          <a:stretch>
            <a:fillRect/>
          </a:stretch>
        </p:blipFill>
        <p:spPr>
          <a:xfrm>
            <a:off x="9144000" y="5143500"/>
            <a:ext cx="304800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83873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4954">
        <p15:prstTrans prst="pageCurlDouble"/>
      </p:transition>
    </mc:Choice>
    <mc:Fallback xmlns="">
      <p:transition spd="slow" advTm="4954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2A4956-FEA8-477B-3D14-453C606F2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DA24E1-E939-A81D-FD3A-48B2D4ACC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24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00FB688-69C0-9AA0-CF2E-BA2B9F062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391" y="393192"/>
            <a:ext cx="6894017" cy="1069975"/>
          </a:xfrm>
        </p:spPr>
        <p:txBody>
          <a:bodyPr/>
          <a:lstStyle/>
          <a:p>
            <a:r>
              <a:rPr lang="en-IN" sz="4400" kern="0" spc="-94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itannic Bold" panose="020B0903060703020204" pitchFamily="34" charset="0"/>
                <a:ea typeface="Petrona Bold" pitchFamily="34" charset="-122"/>
              </a:rPr>
              <a:t>FEATURE Importance plot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CC0D1E-1AA1-31C2-6F3E-959D9D67C1CA}"/>
              </a:ext>
            </a:extLst>
          </p:cNvPr>
          <p:cNvSpPr txBox="1"/>
          <p:nvPr/>
        </p:nvSpPr>
        <p:spPr>
          <a:xfrm>
            <a:off x="850393" y="1290918"/>
            <a:ext cx="491592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spcAft>
                <a:spcPts val="300"/>
              </a:spcAft>
              <a:defRPr sz="2800" b="1">
                <a:solidFill>
                  <a:srgbClr val="F8FAFF"/>
                </a:solidFill>
                <a:latin typeface="DeepSeek-CJK-patch"/>
              </a:defRPr>
            </a:lvl1pPr>
            <a:lvl2pPr marL="742950" lvl="1" indent="-285750">
              <a:spcBef>
                <a:spcPts val="300"/>
              </a:spcBef>
              <a:buFont typeface="Arial" panose="020B0604020202020204" pitchFamily="34" charset="0"/>
              <a:buChar char="•"/>
              <a:defRPr sz="2000">
                <a:solidFill>
                  <a:srgbClr val="F8FAFF"/>
                </a:solidFill>
                <a:latin typeface="DeepSeek-CJK-patch"/>
              </a:defRPr>
            </a:lvl2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A bar chart was used to visualize the most important features influencing mobile phone prize prediction based on the Random Forest model.</a:t>
            </a:r>
            <a:endParaRPr lang="en-IN" sz="2400" dirty="0"/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097524E4-2F81-A433-5151-FC08DF850B2C}"/>
              </a:ext>
            </a:extLst>
          </p:cNvPr>
          <p:cNvSpPr txBox="1">
            <a:spLocks/>
          </p:cNvSpPr>
          <p:nvPr/>
        </p:nvSpPr>
        <p:spPr>
          <a:xfrm>
            <a:off x="618744" y="6342888"/>
            <a:ext cx="2331720" cy="2743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b="0" i="0" kern="1200">
                <a:solidFill>
                  <a:schemeClr val="bg1"/>
                </a:solidFill>
                <a:latin typeface="+mn-lt"/>
                <a:ea typeface="+mn-ea"/>
                <a:cs typeface="Segoe UI Light" panose="020B0502040204020203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NextHikes</a:t>
            </a:r>
            <a:r>
              <a:rPr lang="en-US" dirty="0"/>
              <a:t> It Solutions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DA4D751-A4F0-78AC-C4D9-E4AF589DDA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6319" y="1290918"/>
            <a:ext cx="6335485" cy="5051971"/>
          </a:xfrm>
          <a:prstGeom prst="rect">
            <a:avLst/>
          </a:prstGeom>
        </p:spPr>
      </p:pic>
      <p:pic>
        <p:nvPicPr>
          <p:cNvPr id="9" name="Audio 8">
            <a:hlinkClick r:id="" action="ppaction://media"/>
            <a:extLst>
              <a:ext uri="{FF2B5EF4-FFF2-40B4-BE49-F238E27FC236}">
                <a16:creationId xmlns:a16="http://schemas.microsoft.com/office/drawing/2014/main" id="{1FAC7112-01B0-12B3-808C-C33382310AF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262704" t="-125896" r="-262704" b="-125896"/>
          <a:stretch>
            <a:fillRect/>
          </a:stretch>
        </p:blipFill>
        <p:spPr>
          <a:xfrm>
            <a:off x="9144000" y="5143500"/>
            <a:ext cx="304800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45681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7240">
        <p15:prstTrans prst="pageCurlDouble"/>
      </p:transition>
    </mc:Choice>
    <mc:Fallback xmlns="">
      <p:transition spd="slow" advTm="724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FC083-0113-E018-8F22-F7B0169B3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83F09A-AE2F-A81E-1F6D-7BF8E1FDD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25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3D6B965-57ED-7A97-C40F-9A06AD846F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391" y="393192"/>
            <a:ext cx="6894017" cy="1069975"/>
          </a:xfrm>
        </p:spPr>
        <p:txBody>
          <a:bodyPr/>
          <a:lstStyle/>
          <a:p>
            <a:r>
              <a:rPr lang="en-IN" sz="4400" kern="0" spc="-94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itannic Bold" panose="020B0903060703020204" pitchFamily="34" charset="0"/>
                <a:ea typeface="Petrona Bold" pitchFamily="34" charset="-122"/>
              </a:rPr>
              <a:t>ACTUAL VS PREDICTED PLOT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D12C95-88AA-24CF-DB0F-6C8C8A932E7E}"/>
              </a:ext>
            </a:extLst>
          </p:cNvPr>
          <p:cNvSpPr txBox="1"/>
          <p:nvPr/>
        </p:nvSpPr>
        <p:spPr>
          <a:xfrm>
            <a:off x="850393" y="1290918"/>
            <a:ext cx="4915926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spcAft>
                <a:spcPts val="300"/>
              </a:spcAft>
              <a:defRPr sz="2800" b="1">
                <a:solidFill>
                  <a:srgbClr val="F8FAFF"/>
                </a:solidFill>
                <a:latin typeface="DeepSeek-CJK-patch"/>
              </a:defRPr>
            </a:lvl1pPr>
            <a:lvl2pPr marL="742950" lvl="1" indent="-285750">
              <a:spcBef>
                <a:spcPts val="300"/>
              </a:spcBef>
              <a:buFont typeface="Arial" panose="020B0604020202020204" pitchFamily="34" charset="0"/>
              <a:buChar char="•"/>
              <a:defRPr sz="2000">
                <a:solidFill>
                  <a:srgbClr val="F8FAFF"/>
                </a:solidFill>
                <a:latin typeface="DeepSeek-CJK-patch"/>
              </a:defRPr>
            </a:lvl2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A scatter plot was used to compare the actual prize values with the predicted values from the model.</a:t>
            </a:r>
            <a:r>
              <a:rPr lang="en-US" b="0" dirty="0"/>
              <a:t> </a:t>
            </a:r>
            <a:r>
              <a:rPr lang="en-US" dirty="0"/>
              <a:t>Points close to the diagonal indicate accurate predictions.</a:t>
            </a:r>
            <a:endParaRPr lang="en-IN" sz="2400" dirty="0"/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9A5402DE-CC43-319A-F12B-6D1B94654FD0}"/>
              </a:ext>
            </a:extLst>
          </p:cNvPr>
          <p:cNvSpPr txBox="1">
            <a:spLocks/>
          </p:cNvSpPr>
          <p:nvPr/>
        </p:nvSpPr>
        <p:spPr>
          <a:xfrm>
            <a:off x="618744" y="6342888"/>
            <a:ext cx="2331720" cy="2743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b="0" i="0" kern="1200">
                <a:solidFill>
                  <a:schemeClr val="bg1"/>
                </a:solidFill>
                <a:latin typeface="+mn-lt"/>
                <a:ea typeface="+mn-ea"/>
                <a:cs typeface="Segoe UI Light" panose="020B0502040204020203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NextHikes</a:t>
            </a:r>
            <a:r>
              <a:rPr lang="en-US" dirty="0"/>
              <a:t> It Solutions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640CA5F-B199-C7B2-4765-F92F8C8A81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6318" y="1290918"/>
            <a:ext cx="6335486" cy="5051969"/>
          </a:xfrm>
          <a:prstGeom prst="rect">
            <a:avLst/>
          </a:prstGeom>
        </p:spPr>
      </p:pic>
      <p:pic>
        <p:nvPicPr>
          <p:cNvPr id="12" name="Audio 11">
            <a:hlinkClick r:id="" action="ppaction://media"/>
            <a:extLst>
              <a:ext uri="{FF2B5EF4-FFF2-40B4-BE49-F238E27FC236}">
                <a16:creationId xmlns:a16="http://schemas.microsoft.com/office/drawing/2014/main" id="{0B114A11-E4C8-28D3-E310-0C65F8BDE03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262704" t="-125896" r="-262704" b="-125896"/>
          <a:stretch>
            <a:fillRect/>
          </a:stretch>
        </p:blipFill>
        <p:spPr>
          <a:xfrm>
            <a:off x="9144000" y="5143500"/>
            <a:ext cx="304800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27216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9096">
        <p15:prstTrans prst="pageCurlDouble"/>
      </p:transition>
    </mc:Choice>
    <mc:Fallback xmlns="">
      <p:transition spd="slow" advTm="9096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2"/>
                </p:tgtEl>
              </p:cMediaNode>
            </p:audio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38A52F-2080-27C0-E317-86509F9A19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701C4B-A474-5D8D-A742-30F59F650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26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3944B9E-A2C2-4372-605D-136F79723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391" y="393192"/>
            <a:ext cx="6894017" cy="1069975"/>
          </a:xfrm>
        </p:spPr>
        <p:txBody>
          <a:bodyPr/>
          <a:lstStyle/>
          <a:p>
            <a:r>
              <a:rPr lang="en-IN" sz="4400" kern="0" spc="-94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itannic Bold" panose="020B0903060703020204" pitchFamily="34" charset="0"/>
                <a:ea typeface="Petrona Bold" pitchFamily="34" charset="-122"/>
              </a:rPr>
              <a:t>RESIDUAL PLOT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D8DA85-0B5F-1EA4-8EA3-7070229ACC56}"/>
              </a:ext>
            </a:extLst>
          </p:cNvPr>
          <p:cNvSpPr txBox="1"/>
          <p:nvPr/>
        </p:nvSpPr>
        <p:spPr>
          <a:xfrm>
            <a:off x="850393" y="1290918"/>
            <a:ext cx="491592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spcAft>
                <a:spcPts val="300"/>
              </a:spcAft>
              <a:defRPr sz="2800" b="1">
                <a:solidFill>
                  <a:srgbClr val="F8FAFF"/>
                </a:solidFill>
                <a:latin typeface="DeepSeek-CJK-patch"/>
              </a:defRPr>
            </a:lvl1pPr>
            <a:lvl2pPr marL="742950" lvl="1" indent="-285750">
              <a:spcBef>
                <a:spcPts val="300"/>
              </a:spcBef>
              <a:buFont typeface="Arial" panose="020B0604020202020204" pitchFamily="34" charset="0"/>
              <a:buChar char="•"/>
              <a:defRPr sz="2000">
                <a:solidFill>
                  <a:srgbClr val="F8FAFF"/>
                </a:solidFill>
                <a:latin typeface="DeepSeek-CJK-patch"/>
              </a:defRPr>
            </a:lvl2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A residual plot was used to evaluate the model's prediction errors.</a:t>
            </a:r>
            <a:r>
              <a:rPr lang="en-US" sz="2400" b="0" dirty="0"/>
              <a:t> </a:t>
            </a:r>
            <a:r>
              <a:rPr lang="en-US" sz="2400" dirty="0"/>
              <a:t>Residuals represent the difference between the actual and predicted prize values.</a:t>
            </a:r>
            <a:r>
              <a:rPr lang="en-US" sz="2400" b="0" dirty="0"/>
              <a:t> </a:t>
            </a:r>
            <a:r>
              <a:rPr lang="en-US" sz="2400" dirty="0"/>
              <a:t>Ideally, the residuals should be randomly scattered around the horizontal zero line.</a:t>
            </a:r>
            <a:r>
              <a:rPr lang="en-US" sz="2400" b="0" dirty="0"/>
              <a:t> </a:t>
            </a:r>
            <a:r>
              <a:rPr lang="en-US" sz="2400" dirty="0"/>
              <a:t>This indicates that the model errors are randomly distributed and the model fits the data well.</a:t>
            </a:r>
            <a:endParaRPr lang="en-IN" sz="2400" dirty="0"/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5E83A093-10EC-2D90-7A88-A8C0EB69D314}"/>
              </a:ext>
            </a:extLst>
          </p:cNvPr>
          <p:cNvSpPr txBox="1">
            <a:spLocks/>
          </p:cNvSpPr>
          <p:nvPr/>
        </p:nvSpPr>
        <p:spPr>
          <a:xfrm>
            <a:off x="618744" y="6342888"/>
            <a:ext cx="2331720" cy="2743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b="0" i="0" kern="1200">
                <a:solidFill>
                  <a:schemeClr val="bg1"/>
                </a:solidFill>
                <a:latin typeface="+mn-lt"/>
                <a:ea typeface="+mn-ea"/>
                <a:cs typeface="Segoe UI Light" panose="020B0502040204020203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NextHikes</a:t>
            </a:r>
            <a:r>
              <a:rPr lang="en-US" dirty="0"/>
              <a:t> It Solutions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596DAF3-AC1A-8D33-553C-2A73CB6A68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6317" y="1290918"/>
            <a:ext cx="6335486" cy="5051967"/>
          </a:xfrm>
          <a:prstGeom prst="rect">
            <a:avLst/>
          </a:prstGeom>
        </p:spPr>
      </p:pic>
      <p:pic>
        <p:nvPicPr>
          <p:cNvPr id="7" name="Audio 6">
            <a:hlinkClick r:id="" action="ppaction://media"/>
            <a:extLst>
              <a:ext uri="{FF2B5EF4-FFF2-40B4-BE49-F238E27FC236}">
                <a16:creationId xmlns:a16="http://schemas.microsoft.com/office/drawing/2014/main" id="{C7ABDF66-4045-04C3-F038-ED62885DA98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262704" t="-125896" r="-262704" b="-125896"/>
          <a:stretch>
            <a:fillRect/>
          </a:stretch>
        </p:blipFill>
        <p:spPr>
          <a:xfrm>
            <a:off x="9144000" y="5143500"/>
            <a:ext cx="304800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32349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4982">
        <p15:prstTrans prst="pageCurlDouble"/>
      </p:transition>
    </mc:Choice>
    <mc:Fallback xmlns="">
      <p:transition spd="slow" advTm="4982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54E4E-3F2E-857F-2D16-CA64A8021B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5763EF-7E3A-CAE4-1814-F3916E097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27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B52B76E-3234-BD93-64C2-E572DB798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391" y="393192"/>
            <a:ext cx="6894017" cy="1069975"/>
          </a:xfrm>
        </p:spPr>
        <p:txBody>
          <a:bodyPr/>
          <a:lstStyle/>
          <a:p>
            <a:r>
              <a:rPr lang="en-IN" sz="4400" kern="0" spc="-94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itannic Bold" panose="020B0903060703020204" pitchFamily="34" charset="0"/>
                <a:ea typeface="Petrona Bold" pitchFamily="34" charset="-122"/>
              </a:rPr>
              <a:t>ACTUAL VS PREDICTED LINE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AF5CE2-E59B-E676-233C-2E8BFEF317B2}"/>
              </a:ext>
            </a:extLst>
          </p:cNvPr>
          <p:cNvSpPr txBox="1"/>
          <p:nvPr/>
        </p:nvSpPr>
        <p:spPr>
          <a:xfrm>
            <a:off x="850393" y="1290918"/>
            <a:ext cx="4915926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spcAft>
                <a:spcPts val="300"/>
              </a:spcAft>
              <a:defRPr sz="2800" b="1">
                <a:solidFill>
                  <a:srgbClr val="F8FAFF"/>
                </a:solidFill>
                <a:latin typeface="DeepSeek-CJK-patch"/>
              </a:defRPr>
            </a:lvl1pPr>
            <a:lvl2pPr marL="742950" lvl="1" indent="-285750">
              <a:spcBef>
                <a:spcPts val="300"/>
              </a:spcBef>
              <a:buFont typeface="Arial" panose="020B0604020202020204" pitchFamily="34" charset="0"/>
              <a:buChar char="•"/>
              <a:defRPr sz="2000">
                <a:solidFill>
                  <a:srgbClr val="F8FAFF"/>
                </a:solidFill>
                <a:latin typeface="DeepSeek-CJK-patch"/>
              </a:defRPr>
            </a:lvl2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The scatter plot compares the actual and predicted prize values.</a:t>
            </a:r>
            <a:r>
              <a:rPr lang="en-US" b="0" dirty="0"/>
              <a:t> </a:t>
            </a:r>
            <a:r>
              <a:rPr lang="en-US" dirty="0"/>
              <a:t>The red diagonal line represents perfect predictions.</a:t>
            </a:r>
            <a:r>
              <a:rPr lang="en-US" b="0" dirty="0"/>
              <a:t> </a:t>
            </a:r>
            <a:r>
              <a:rPr lang="en-US" dirty="0"/>
              <a:t>Points close to this line indicate that the model predictions are accurate.</a:t>
            </a:r>
            <a:endParaRPr lang="en-IN" sz="2400" dirty="0"/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BC7DC4B3-2F62-A972-8305-2D086AF2A6C2}"/>
              </a:ext>
            </a:extLst>
          </p:cNvPr>
          <p:cNvSpPr txBox="1">
            <a:spLocks/>
          </p:cNvSpPr>
          <p:nvPr/>
        </p:nvSpPr>
        <p:spPr>
          <a:xfrm>
            <a:off x="618744" y="6342888"/>
            <a:ext cx="2331720" cy="2743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b="0" i="0" kern="1200">
                <a:solidFill>
                  <a:schemeClr val="bg1"/>
                </a:solidFill>
                <a:latin typeface="+mn-lt"/>
                <a:ea typeface="+mn-ea"/>
                <a:cs typeface="Segoe UI Light" panose="020B0502040204020203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NextHikes</a:t>
            </a:r>
            <a:r>
              <a:rPr lang="en-US" dirty="0"/>
              <a:t> It Solutions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0B9ED07-2D3A-1F0E-4D80-0FC5CFC04B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6315" y="1290918"/>
            <a:ext cx="6335487" cy="5051967"/>
          </a:xfrm>
          <a:prstGeom prst="rect">
            <a:avLst/>
          </a:prstGeom>
        </p:spPr>
      </p:pic>
      <p:pic>
        <p:nvPicPr>
          <p:cNvPr id="12" name="Audio 11">
            <a:hlinkClick r:id="" action="ppaction://media"/>
            <a:extLst>
              <a:ext uri="{FF2B5EF4-FFF2-40B4-BE49-F238E27FC236}">
                <a16:creationId xmlns:a16="http://schemas.microsoft.com/office/drawing/2014/main" id="{4659E27F-F6FC-7A9A-BDE3-D90497E393E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262704" t="-125896" r="-262704" b="-125896"/>
          <a:stretch>
            <a:fillRect/>
          </a:stretch>
        </p:blipFill>
        <p:spPr>
          <a:xfrm>
            <a:off x="9144000" y="5143500"/>
            <a:ext cx="304800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52662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11490">
        <p15:prstTrans prst="pageCurlDouble"/>
      </p:transition>
    </mc:Choice>
    <mc:Fallback xmlns="">
      <p:transition spd="slow" advTm="1149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2"/>
                </p:tgtEl>
              </p:cMediaNode>
            </p:audio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F0E99-07CC-9576-AFD7-C52151AD0EA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400" kern="0" spc="3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itannic Bold" panose="020B0903060703020204" pitchFamily="34" charset="0"/>
                <a:ea typeface="Petrona Bold" pitchFamily="34" charset="-122"/>
              </a:rPr>
              <a:t>Conclusion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82A8B0-333F-633E-3FA7-D38DBFB109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8088" y="3685031"/>
            <a:ext cx="7735824" cy="2183923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The machine learning model successfully predicted mobile phone prices.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Performed data analysis and feature engineering.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Linear Regression achieved the best performance.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Identified important features affecting price.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Model shows good accuracy and reliability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6" name="Audio 5">
            <a:hlinkClick r:id="" action="ppaction://media"/>
            <a:extLst>
              <a:ext uri="{FF2B5EF4-FFF2-40B4-BE49-F238E27FC236}">
                <a16:creationId xmlns:a16="http://schemas.microsoft.com/office/drawing/2014/main" id="{8DAF6467-3858-68AE-F8D5-04E381AD463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262704" t="-125896" r="-262704" b="-125896"/>
          <a:stretch>
            <a:fillRect/>
          </a:stretch>
        </p:blipFill>
        <p:spPr>
          <a:xfrm>
            <a:off x="9144000" y="5143500"/>
            <a:ext cx="3048000" cy="1714500"/>
          </a:xfrm>
          <a:prstGeom prst="rect">
            <a:avLst/>
          </a:prstGeom>
        </p:spPr>
      </p:pic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7A61E4BB-DE31-5EF8-06BF-3D21475190B3}"/>
              </a:ext>
            </a:extLst>
          </p:cNvPr>
          <p:cNvSpPr txBox="1">
            <a:spLocks/>
          </p:cNvSpPr>
          <p:nvPr/>
        </p:nvSpPr>
        <p:spPr>
          <a:xfrm>
            <a:off x="618744" y="6342888"/>
            <a:ext cx="2331720" cy="2743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b="0" i="0" kern="1200">
                <a:solidFill>
                  <a:schemeClr val="bg1"/>
                </a:solidFill>
                <a:latin typeface="+mn-lt"/>
                <a:ea typeface="+mn-ea"/>
                <a:cs typeface="Segoe UI Light" panose="020B0502040204020203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NextHikes</a:t>
            </a:r>
            <a:r>
              <a:rPr lang="en-US" dirty="0"/>
              <a:t> It Solutions</a:t>
            </a:r>
          </a:p>
        </p:txBody>
      </p:sp>
    </p:spTree>
    <p:extLst>
      <p:ext uri="{BB962C8B-B14F-4D97-AF65-F5344CB8AC3E}">
        <p14:creationId xmlns:p14="http://schemas.microsoft.com/office/powerpoint/2010/main" val="338075988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27372">
        <p15:prstTrans prst="pageCurlDouble"/>
      </p:transition>
    </mc:Choice>
    <mc:Fallback xmlns="">
      <p:transition spd="slow" advTm="27372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BEB37-AC4B-E3C5-BED7-6495F2787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74659" y="32004"/>
            <a:ext cx="5156140" cy="1069848"/>
          </a:xfrm>
        </p:spPr>
        <p:txBody>
          <a:bodyPr/>
          <a:lstStyle/>
          <a:p>
            <a:r>
              <a:rPr lang="en-IN" sz="4400" kern="0" spc="-94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itannic Bold" panose="020B0903060703020204" pitchFamily="34" charset="0"/>
                <a:ea typeface="Petrona Bold" pitchFamily="34" charset="-122"/>
              </a:rPr>
              <a:t>Business Insights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045313-7588-B5B5-635C-EBA30593B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7BB4E6-4B7B-ADC3-7B02-AB1CCACE8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29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1E0F2CB-766A-C61F-EAFC-E3DC04BAED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457200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2CEC5AD-5086-1EE8-A145-908C81DF0EE2}"/>
              </a:ext>
            </a:extLst>
          </p:cNvPr>
          <p:cNvSpPr txBox="1"/>
          <p:nvPr/>
        </p:nvSpPr>
        <p:spPr>
          <a:xfrm>
            <a:off x="5674659" y="1101852"/>
            <a:ext cx="5580529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Business Recommendations: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</a:rPr>
              <a:t>Focus on key features like: 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</a:rPr>
              <a:t>RAM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</a:rPr>
              <a:t>Battery Capacity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</a:rPr>
              <a:t>Processor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</a:rPr>
              <a:t>Camera</a:t>
            </a:r>
            <a:endParaRPr lang="en-IN" sz="3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Use data-driven approach for pricing strategy.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Optimize product design based on important features.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Improve competitiveness in the market.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Use predictive models for better decision-making.</a:t>
            </a:r>
            <a:endParaRPr lang="en-IN" sz="2400" dirty="0">
              <a:solidFill>
                <a:schemeClr val="bg1"/>
              </a:solidFill>
            </a:endParaRPr>
          </a:p>
        </p:txBody>
      </p:sp>
      <p:pic>
        <p:nvPicPr>
          <p:cNvPr id="11" name="Audio 10">
            <a:hlinkClick r:id="" action="ppaction://media"/>
            <a:extLst>
              <a:ext uri="{FF2B5EF4-FFF2-40B4-BE49-F238E27FC236}">
                <a16:creationId xmlns:a16="http://schemas.microsoft.com/office/drawing/2014/main" id="{ECB40DE3-09B0-D7E4-91DF-9DC6FC9B393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262704" t="-125896" r="-262704" b="-125896"/>
          <a:stretch>
            <a:fillRect/>
          </a:stretch>
        </p:blipFill>
        <p:spPr>
          <a:xfrm>
            <a:off x="9144000" y="5143500"/>
            <a:ext cx="3048000" cy="1714500"/>
          </a:xfrm>
          <a:prstGeom prst="rect">
            <a:avLst/>
          </a:prstGeom>
        </p:spPr>
      </p:pic>
      <p:sp>
        <p:nvSpPr>
          <p:cNvPr id="12" name="Footer Placeholder 2">
            <a:extLst>
              <a:ext uri="{FF2B5EF4-FFF2-40B4-BE49-F238E27FC236}">
                <a16:creationId xmlns:a16="http://schemas.microsoft.com/office/drawing/2014/main" id="{BFB12AE3-BC3E-49FC-EA6C-B34013319A37}"/>
              </a:ext>
            </a:extLst>
          </p:cNvPr>
          <p:cNvSpPr txBox="1">
            <a:spLocks/>
          </p:cNvSpPr>
          <p:nvPr/>
        </p:nvSpPr>
        <p:spPr>
          <a:xfrm>
            <a:off x="618744" y="6342888"/>
            <a:ext cx="2331720" cy="2743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b="0" i="0" kern="1200">
                <a:solidFill>
                  <a:schemeClr val="bg1"/>
                </a:solidFill>
                <a:latin typeface="+mn-lt"/>
                <a:ea typeface="+mn-ea"/>
                <a:cs typeface="Segoe UI Light" panose="020B0502040204020203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NextHikes</a:t>
            </a:r>
            <a:r>
              <a:rPr lang="en-US" dirty="0"/>
              <a:t> It Solutions</a:t>
            </a:r>
          </a:p>
        </p:txBody>
      </p:sp>
    </p:spTree>
    <p:extLst>
      <p:ext uri="{BB962C8B-B14F-4D97-AF65-F5344CB8AC3E}">
        <p14:creationId xmlns:p14="http://schemas.microsoft.com/office/powerpoint/2010/main" val="249482191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26133">
        <p15:prstTrans prst="pageCurlDouble"/>
      </p:transition>
    </mc:Choice>
    <mc:Fallback xmlns="">
      <p:transition spd="slow" advTm="26133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E1892-81E6-551C-7B5A-DEA682245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1968" y="1829702"/>
            <a:ext cx="4718304" cy="1069848"/>
          </a:xfrm>
        </p:spPr>
        <p:txBody>
          <a:bodyPr/>
          <a:lstStyle/>
          <a:p>
            <a:r>
              <a:rPr lang="en-US" sz="4400" kern="0" spc="3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itannic Bold" panose="020B0903060703020204" pitchFamily="34" charset="0"/>
                <a:ea typeface="Petrona Bold" pitchFamily="34" charset="-122"/>
              </a:rPr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519D01-29BE-BE76-41C5-9D58AD8119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01967" y="5115542"/>
            <a:ext cx="5051967" cy="1069848"/>
          </a:xfrm>
        </p:spPr>
        <p:txBody>
          <a:bodyPr/>
          <a:lstStyle/>
          <a:p>
            <a:pPr algn="l"/>
            <a:r>
              <a:rPr lang="en-US" dirty="0">
                <a:solidFill>
                  <a:srgbClr val="FFFF00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Mr. Ajay Kumar Sahu</a:t>
            </a:r>
          </a:p>
          <a:p>
            <a:pPr algn="l"/>
            <a:r>
              <a:rPr lang="en-US" dirty="0">
                <a:latin typeface="Segoe UI Light" panose="020B0502040204020203" pitchFamily="34" charset="0"/>
                <a:cs typeface="Segoe UI Light" panose="020B0502040204020203" pitchFamily="34" charset="0"/>
              </a:rPr>
              <a:t>ajaykumarsahu2017.1997@gmail.com </a:t>
            </a:r>
            <a:endParaRPr lang="en-US" dirty="0">
              <a:latin typeface="Segoe UI Light" panose="020B0502040204020203" pitchFamily="34" charset="0"/>
              <a:ea typeface="Calibri"/>
              <a:cs typeface="Segoe UI Light" panose="020B0502040204020203" pitchFamily="34" charset="0"/>
            </a:endParaRP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BF5B57-4AC0-D416-BB89-3BE40F05EBA2}"/>
              </a:ext>
            </a:extLst>
          </p:cNvPr>
          <p:cNvSpPr txBox="1"/>
          <p:nvPr/>
        </p:nvSpPr>
        <p:spPr>
          <a:xfrm>
            <a:off x="6592824" y="3638214"/>
            <a:ext cx="520598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Grateful for your time and attention.</a:t>
            </a:r>
            <a:br>
              <a:rPr lang="en-US" sz="24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Your feedback and insights are deeply appreciated!</a:t>
            </a:r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EFB4FD6-27BC-5AD2-7A55-F7BA2D0237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" y="1157232"/>
            <a:ext cx="3307976" cy="4961964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87770123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Custom 43">
      <a:dk1>
        <a:srgbClr val="000000"/>
      </a:dk1>
      <a:lt1>
        <a:srgbClr val="FFFFFF"/>
      </a:lt1>
      <a:dk2>
        <a:srgbClr val="64DFED"/>
      </a:dk2>
      <a:lt2>
        <a:srgbClr val="E7E6E6"/>
      </a:lt2>
      <a:accent1>
        <a:srgbClr val="92CDF0"/>
      </a:accent1>
      <a:accent2>
        <a:srgbClr val="92CDF0"/>
      </a:accent2>
      <a:accent3>
        <a:srgbClr val="ABC3F0"/>
      </a:accent3>
      <a:accent4>
        <a:srgbClr val="C3B9F2"/>
      </a:accent4>
      <a:accent5>
        <a:srgbClr val="AAA5F9"/>
      </a:accent5>
      <a:accent6>
        <a:srgbClr val="F6A6F4"/>
      </a:accent6>
      <a:hlink>
        <a:srgbClr val="0563C1"/>
      </a:hlink>
      <a:folHlink>
        <a:srgbClr val="954F72"/>
      </a:folHlink>
    </a:clrScheme>
    <a:fontScheme name="Custom 39">
      <a:majorFont>
        <a:latin typeface="Tw Cen MT"/>
        <a:ea typeface=""/>
        <a:cs typeface=""/>
      </a:majorFont>
      <a:minorFont>
        <a:latin typeface="Segoe U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nancial-design_Win32_CP_v13" id="{7A406372-3134-432A-A498-73868680C33B}" vid="{88D369DF-875A-4C31-AFF3-DEF6B94343C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5" ma:contentTypeDescription="Create a new document." ma:contentTypeScope="" ma:versionID="e02306daf00165b375dc6a58966960b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df88fb76bf5f555224557953949c1ec9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4F1F1912-3146-44AF-A389-9E8B77BB368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76493A3-2B83-4E58-86AD-56A2F2A20F1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8B8ECF1-2A9D-464C-AFE8-2B3295D0BF97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Financial design</Template>
  <TotalTime>699</TotalTime>
  <Words>1517</Words>
  <Application>Microsoft Office PowerPoint</Application>
  <PresentationFormat>Widescreen</PresentationFormat>
  <Paragraphs>288</Paragraphs>
  <Slides>30</Slides>
  <Notes>0</Notes>
  <HiddenSlides>0</HiddenSlides>
  <MMClips>27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41" baseType="lpstr">
      <vt:lpstr>Arial</vt:lpstr>
      <vt:lpstr>Britannic Bold</vt:lpstr>
      <vt:lpstr>Calibri</vt:lpstr>
      <vt:lpstr>Comfortaa Bold</vt:lpstr>
      <vt:lpstr>Courier New</vt:lpstr>
      <vt:lpstr>DeepSeek-CJK-patch</vt:lpstr>
      <vt:lpstr>Raleway Medium</vt:lpstr>
      <vt:lpstr>Segoe UI Light</vt:lpstr>
      <vt:lpstr>Tw Cen MT</vt:lpstr>
      <vt:lpstr>Wingdings</vt:lpstr>
      <vt:lpstr>Office Theme</vt:lpstr>
      <vt:lpstr>FEATURE EXTRACTION AND PRICE PREDICTION for MOBILE PHONES </vt:lpstr>
      <vt:lpstr>PROBLEM STATEMENT</vt:lpstr>
      <vt:lpstr>PROBLEM STATEMENT</vt:lpstr>
      <vt:lpstr>PROBLEM STATEMENT</vt:lpstr>
      <vt:lpstr>Data description</vt:lpstr>
      <vt:lpstr>DATA EXPLORATION</vt:lpstr>
      <vt:lpstr>MISSING VALUE CHECK</vt:lpstr>
      <vt:lpstr>IDENTIFY FEATURE TYPES</vt:lpstr>
      <vt:lpstr>Data Cleaning &amp; Preprocessing</vt:lpstr>
      <vt:lpstr>Exploratory Data Analysis (EDA) </vt:lpstr>
      <vt:lpstr>Exploratory Data Analysis (EDA) </vt:lpstr>
      <vt:lpstr>Exploratory Data Analysis (EDA) </vt:lpstr>
      <vt:lpstr>Exploratory Data Analysis (EDA) </vt:lpstr>
      <vt:lpstr>Exploratory Data Analysis (EDA) </vt:lpstr>
      <vt:lpstr>Feature Engineering </vt:lpstr>
      <vt:lpstr>TRAIN TEST SPLIT</vt:lpstr>
      <vt:lpstr>FEATURE SCALING</vt:lpstr>
      <vt:lpstr>MODEL BUILDING</vt:lpstr>
      <vt:lpstr>Model Evaluation</vt:lpstr>
      <vt:lpstr> Feature Importance </vt:lpstr>
      <vt:lpstr>Model Comparison</vt:lpstr>
      <vt:lpstr>VISUALIZATION</vt:lpstr>
      <vt:lpstr> CORRELATION hEATMAP </vt:lpstr>
      <vt:lpstr>FEATURE Importance plot</vt:lpstr>
      <vt:lpstr>ACTUAL VS PREDICTED PLOT</vt:lpstr>
      <vt:lpstr>RESIDUAL PLOT</vt:lpstr>
      <vt:lpstr>ACTUAL VS PREDICTED LINE</vt:lpstr>
      <vt:lpstr>Conclusion</vt:lpstr>
      <vt:lpstr>Business Insights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Windows User</dc:creator>
  <cp:lastModifiedBy>Ajay Kumar Sahu</cp:lastModifiedBy>
  <cp:revision>14</cp:revision>
  <dcterms:created xsi:type="dcterms:W3CDTF">2025-05-18T18:44:40Z</dcterms:created>
  <dcterms:modified xsi:type="dcterms:W3CDTF">2026-10-19T19:06:29Z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